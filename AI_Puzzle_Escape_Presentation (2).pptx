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Team: Durkasri 240701132, Gayathri Mohanraaj 240701143.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B1A7A"/>
        </a:solidFill>
      </p:bgPr>
    </p:bg>
    <p:spTree>
      <p:nvGrpSpPr>
        <p:cNvPr id="1" name=""/>
        <p:cNvGrpSpPr/>
        <p:nvPr/>
      </p:nvGrpSpPr>
      <p:grpSpPr>
        <a:xfrm>
          <a:off x="0" y="0"/>
          <a:ext cx="0" cy="0"/>
          <a:chOff x="0" y="0"/>
          <a:chExt cx="0" cy="0"/>
        </a:xfrm>
      </p:grpSpPr>
      <p:sp>
        <p:nvSpPr>
          <p:cNvPr id="2" name="Text 0"/>
          <p:cNvSpPr txBox="1"/>
          <p:nvPr/>
        </p:nvSpPr>
        <p:spPr>
          <a:xfrm>
            <a:off x="457200" y="411480"/>
            <a:ext cx="5120640" cy="6400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AI Puzzle Escape</a:t>
            </a:r>
            <a:endParaRPr lang="en-US" sz="3800" dirty="0"/>
          </a:p>
        </p:txBody>
      </p:sp>
      <p:sp>
        <p:nvSpPr>
          <p:cNvPr id="3" name="Text 1"/>
          <p:cNvSpPr txBox="1"/>
          <p:nvPr/>
        </p:nvSpPr>
        <p:spPr>
          <a:xfrm>
            <a:off x="457200" y="1188720"/>
            <a:ext cx="4937760" cy="731520"/>
          </a:xfrm>
          <a:prstGeom prst="rect">
            <a:avLst/>
          </a:prstGeom>
          <a:noFill/>
          <a:ln/>
        </p:spPr>
        <p:txBody>
          <a:bodyPr wrap="square" lIns="0" tIns="0" rIns="0" bIns="0" rtlCol="0" anchor="ctr"/>
          <a:lstStyle/>
          <a:p>
            <a:pPr indent="0" marL="0">
              <a:buNone/>
            </a:pPr>
            <a:r>
              <a:rPr lang="en-US" sz="1500" dirty="0">
                <a:solidFill>
                  <a:srgbClr val="DDD6FE"/>
                </a:solidFill>
                <a:latin typeface="Calibri" pitchFamily="34" charset="0"/>
                <a:ea typeface="Calibri" pitchFamily="34" charset="-122"/>
                <a:cs typeface="Calibri" pitchFamily="34" charset="-120"/>
              </a:rPr>
              <a:t>A CSP-based escape room game with four AI-generated puzzles, adaptive difficulty and a live AI status panel</a:t>
            </a:r>
            <a:endParaRPr lang="en-US" sz="1500" dirty="0"/>
          </a:p>
        </p:txBody>
      </p:sp>
      <p:sp>
        <p:nvSpPr>
          <p:cNvPr id="4" name="Shape 2"/>
          <p:cNvSpPr/>
          <p:nvPr/>
        </p:nvSpPr>
        <p:spPr>
          <a:xfrm>
            <a:off x="457200" y="2148840"/>
            <a:ext cx="5029200" cy="2468880"/>
          </a:xfrm>
          <a:prstGeom prst="roundRect">
            <a:avLst>
              <a:gd name="adj" fmla="val 3704"/>
            </a:avLst>
          </a:prstGeom>
          <a:solidFill>
            <a:srgbClr val="2E1065"/>
          </a:solidFill>
          <a:ln w="15875">
            <a:solidFill>
              <a:srgbClr val="A78BFA"/>
            </a:solidFill>
            <a:prstDash val="dash"/>
          </a:ln>
        </p:spPr>
      </p:sp>
      <p:sp>
        <p:nvSpPr>
          <p:cNvPr id="5" name="Text 3"/>
          <p:cNvSpPr txBox="1"/>
          <p:nvPr/>
        </p:nvSpPr>
        <p:spPr>
          <a:xfrm>
            <a:off x="640080" y="2286000"/>
            <a:ext cx="4663440" cy="2194560"/>
          </a:xfrm>
          <a:prstGeom prst="rect">
            <a:avLst/>
          </a:prstGeom>
          <a:noFill/>
          <a:ln/>
        </p:spPr>
        <p:txBody>
          <a:bodyPr wrap="square" lIns="0" tIns="0" rIns="0" bIns="0" rtlCol="0" anchor="t"/>
          <a:lstStyle/>
          <a:p>
            <a:pPr indent="0" marL="0">
              <a:spcAft>
                <a:spcPts val="300"/>
              </a:spcAft>
              <a:buNone/>
            </a:pPr>
            <a:r>
              <a:rPr lang="en-US" sz="1300" b="1" dirty="0">
                <a:solidFill>
                  <a:srgbClr val="FBBF24"/>
                </a:solidFill>
                <a:latin typeface="Calibri" pitchFamily="34" charset="0"/>
                <a:ea typeface="Calibri" pitchFamily="34" charset="-122"/>
                <a:cs typeface="Calibri" pitchFamily="34" charset="-120"/>
              </a:rPr>
              <a:t>FOUNDATION OF ARTIFICIAL INTELLIGENCE PROJECT</a:t>
            </a:r>
            <a:endParaRPr lang="en-US" sz="1300" dirty="0"/>
          </a:p>
          <a:p>
            <a:pPr indent="0" marL="0">
              <a:spcAft>
                <a:spcPts val="300"/>
              </a:spcAft>
              <a:buNone/>
            </a:pPr>
            <a:r>
              <a:rPr lang="en-US" sz="1300" b="1" dirty="0">
                <a:solidFill>
                  <a:srgbClr val="FBBF24"/>
                </a:solidFill>
                <a:latin typeface="Calibri" pitchFamily="34" charset="0"/>
                <a:ea typeface="Calibri" pitchFamily="34" charset="-122"/>
                <a:cs typeface="Calibri" pitchFamily="34" charset="-120"/>
              </a:rPr>
              <a:t>Mentor : Dr. Mrs. Theepa Karthisai</a:t>
            </a:r>
            <a:endParaRPr lang="en-US" sz="1300" dirty="0"/>
          </a:p>
          <a:p>
            <a:pPr indent="0" marL="0">
              <a:spcAft>
                <a:spcPts val="300"/>
              </a:spcAft>
              <a:buNone/>
            </a:pPr>
            <a:r>
              <a:rPr lang="en-US" sz="1300" b="1" dirty="0">
                <a:solidFill>
                  <a:srgbClr val="FBBF24"/>
                </a:solidFill>
                <a:latin typeface="Calibri" pitchFamily="34" charset="0"/>
                <a:ea typeface="Calibri" pitchFamily="34" charset="-122"/>
                <a:cs typeface="Calibri" pitchFamily="34" charset="-120"/>
              </a:rPr>
              <a:t>Team Members</a:t>
            </a:r>
            <a:endParaRPr lang="en-US" sz="1300" dirty="0"/>
          </a:p>
          <a:p>
            <a:pPr indent="0" marL="0">
              <a:spcAft>
                <a:spcPts val="300"/>
              </a:spcAft>
              <a:buNone/>
            </a:pPr>
            <a:r>
              <a:rPr lang="en-US" sz="1300" dirty="0">
                <a:solidFill>
                  <a:srgbClr val="FFFFFF"/>
                </a:solidFill>
                <a:latin typeface="Calibri" pitchFamily="34" charset="0"/>
                <a:ea typeface="Calibri" pitchFamily="34" charset="-122"/>
                <a:cs typeface="Calibri" pitchFamily="34" charset="-120"/>
              </a:rPr>
              <a:t>DURKASRI - 240701132</a:t>
            </a:r>
            <a:endParaRPr lang="en-US" sz="1300" dirty="0"/>
          </a:p>
          <a:p>
            <a:pPr indent="0" marL="0">
              <a:spcAft>
                <a:spcPts val="300"/>
              </a:spcAft>
              <a:buNone/>
            </a:pPr>
            <a:r>
              <a:rPr lang="en-US" sz="1300" dirty="0">
                <a:solidFill>
                  <a:srgbClr val="FFFFFF"/>
                </a:solidFill>
                <a:latin typeface="Calibri" pitchFamily="34" charset="0"/>
                <a:ea typeface="Calibri" pitchFamily="34" charset="-122"/>
                <a:cs typeface="Calibri" pitchFamily="34" charset="-120"/>
              </a:rPr>
              <a:t>GAYATHRI MOHANRAAJ - 240701143</a:t>
            </a:r>
            <a:endParaRPr lang="en-US" sz="1300" dirty="0"/>
          </a:p>
          <a:p>
            <a:pPr indent="0" marL="0">
              <a:spcAft>
                <a:spcPts val="300"/>
              </a:spcAft>
              <a:buNone/>
            </a:pPr>
            <a:r>
              <a:rPr lang="en-US" sz="1300" dirty="0">
                <a:solidFill>
                  <a:srgbClr val="DDD6FE"/>
                </a:solidFill>
                <a:latin typeface="Calibri" pitchFamily="34" charset="0"/>
                <a:ea typeface="Calibri" pitchFamily="34" charset="-122"/>
                <a:cs typeface="Calibri" pitchFamily="34" charset="-120"/>
              </a:rPr>
              <a:t>Computer Science and Engineering</a:t>
            </a:r>
            <a:endParaRPr lang="en-US" sz="1300" dirty="0"/>
          </a:p>
          <a:p>
            <a:pPr indent="0" marL="0">
              <a:spcAft>
                <a:spcPts val="300"/>
              </a:spcAft>
              <a:buNone/>
            </a:pPr>
            <a:r>
              <a:rPr lang="en-US" sz="1300" dirty="0">
                <a:solidFill>
                  <a:srgbClr val="DDD6FE"/>
                </a:solidFill>
                <a:latin typeface="Calibri" pitchFamily="34" charset="0"/>
                <a:ea typeface="Calibri" pitchFamily="34" charset="-122"/>
                <a:cs typeface="Calibri" pitchFamily="34" charset="-120"/>
              </a:rPr>
              <a:t>Rajalakshmi Engineering College</a:t>
            </a:r>
            <a:endParaRPr lang="en-US" sz="1300" dirty="0"/>
          </a:p>
          <a:p>
            <a:pPr indent="0" marL="0">
              <a:spcAft>
                <a:spcPts val="300"/>
              </a:spcAft>
              <a:buNone/>
            </a:pPr>
            <a:r>
              <a:rPr lang="en-US" sz="1300" dirty="0">
                <a:solidFill>
                  <a:srgbClr val="DDD6FE"/>
                </a:solidFill>
                <a:latin typeface="Calibri" pitchFamily="34" charset="0"/>
                <a:ea typeface="Calibri" pitchFamily="34" charset="-122"/>
                <a:cs typeface="Calibri" pitchFamily="34" charset="-120"/>
              </a:rPr>
              <a:t>Batch: 2024 -2028</a:t>
            </a:r>
            <a:endParaRPr lang="en-US" sz="1300" dirty="0"/>
          </a:p>
        </p:txBody>
      </p:sp>
      <p:sp>
        <p:nvSpPr>
          <p:cNvPr id="6" name="Shape 4"/>
          <p:cNvSpPr/>
          <p:nvPr/>
        </p:nvSpPr>
        <p:spPr>
          <a:xfrm>
            <a:off x="6400800" y="822960"/>
            <a:ext cx="868680" cy="868680"/>
          </a:xfrm>
          <a:prstGeom prst="roundRect">
            <a:avLst>
              <a:gd name="adj" fmla="val 12632"/>
            </a:avLst>
          </a:prstGeom>
          <a:solidFill>
            <a:srgbClr val="6D28D9"/>
          </a:solidFill>
          <a:ln w="12700">
            <a:solidFill>
              <a:srgbClr val="DDD6FE"/>
            </a:solidFill>
            <a:prstDash val="solid"/>
          </a:ln>
        </p:spPr>
      </p:sp>
      <p:pic>
        <p:nvPicPr>
          <p:cNvPr id="7" name="Image 0" descr="preencoded.png">    </p:cNvPr>
          <p:cNvPicPr>
            <a:picLocks noChangeAspect="1"/>
          </p:cNvPicPr>
          <p:nvPr/>
        </p:nvPicPr>
        <p:blipFill>
          <a:blip r:embed="rId1"/>
          <a:stretch>
            <a:fillRect/>
          </a:stretch>
        </p:blipFill>
        <p:spPr>
          <a:xfrm>
            <a:off x="6647688" y="1069848"/>
            <a:ext cx="365760" cy="365760"/>
          </a:xfrm>
          <a:prstGeom prst="rect">
            <a:avLst/>
          </a:prstGeom>
        </p:spPr>
      </p:pic>
      <p:sp>
        <p:nvSpPr>
          <p:cNvPr id="8" name="Shape 5"/>
          <p:cNvSpPr/>
          <p:nvPr/>
        </p:nvSpPr>
        <p:spPr>
          <a:xfrm>
            <a:off x="7406640" y="822960"/>
            <a:ext cx="868680" cy="868680"/>
          </a:xfrm>
          <a:prstGeom prst="roundRect">
            <a:avLst>
              <a:gd name="adj" fmla="val 12632"/>
            </a:avLst>
          </a:prstGeom>
          <a:solidFill>
            <a:srgbClr val="A78BFA"/>
          </a:solidFill>
          <a:ln w="12700">
            <a:solidFill>
              <a:srgbClr val="DDD6FE"/>
            </a:solidFill>
            <a:prstDash val="solid"/>
          </a:ln>
        </p:spPr>
      </p:sp>
      <p:pic>
        <p:nvPicPr>
          <p:cNvPr id="9" name="Image 1" descr="preencoded.png">    </p:cNvPr>
          <p:cNvPicPr>
            <a:picLocks noChangeAspect="1"/>
          </p:cNvPicPr>
          <p:nvPr/>
        </p:nvPicPr>
        <p:blipFill>
          <a:blip r:embed="rId2"/>
          <a:stretch>
            <a:fillRect/>
          </a:stretch>
        </p:blipFill>
        <p:spPr>
          <a:xfrm>
            <a:off x="7653528" y="1069848"/>
            <a:ext cx="365760" cy="365760"/>
          </a:xfrm>
          <a:prstGeom prst="rect">
            <a:avLst/>
          </a:prstGeom>
        </p:spPr>
      </p:pic>
      <p:sp>
        <p:nvSpPr>
          <p:cNvPr id="10" name="Shape 6"/>
          <p:cNvSpPr/>
          <p:nvPr/>
        </p:nvSpPr>
        <p:spPr>
          <a:xfrm>
            <a:off x="6400800" y="1828800"/>
            <a:ext cx="868680" cy="868680"/>
          </a:xfrm>
          <a:prstGeom prst="roundRect">
            <a:avLst>
              <a:gd name="adj" fmla="val 12632"/>
            </a:avLst>
          </a:prstGeom>
          <a:solidFill>
            <a:srgbClr val="FBBF24"/>
          </a:solidFill>
          <a:ln w="12700">
            <a:solidFill>
              <a:srgbClr val="DDD6FE"/>
            </a:solidFill>
            <a:prstDash val="solid"/>
          </a:ln>
        </p:spPr>
      </p:sp>
      <p:pic>
        <p:nvPicPr>
          <p:cNvPr id="11" name="Image 2" descr="preencoded.png">    </p:cNvPr>
          <p:cNvPicPr>
            <a:picLocks noChangeAspect="1"/>
          </p:cNvPicPr>
          <p:nvPr/>
        </p:nvPicPr>
        <p:blipFill>
          <a:blip r:embed="rId3"/>
          <a:stretch>
            <a:fillRect/>
          </a:stretch>
        </p:blipFill>
        <p:spPr>
          <a:xfrm>
            <a:off x="6647688" y="2075688"/>
            <a:ext cx="365760" cy="365760"/>
          </a:xfrm>
          <a:prstGeom prst="rect">
            <a:avLst/>
          </a:prstGeom>
        </p:spPr>
      </p:pic>
      <p:sp>
        <p:nvSpPr>
          <p:cNvPr id="12" name="Shape 7"/>
          <p:cNvSpPr/>
          <p:nvPr/>
        </p:nvSpPr>
        <p:spPr>
          <a:xfrm>
            <a:off x="7406640" y="1828800"/>
            <a:ext cx="868680" cy="868680"/>
          </a:xfrm>
          <a:prstGeom prst="roundRect">
            <a:avLst>
              <a:gd name="adj" fmla="val 12632"/>
            </a:avLst>
          </a:prstGeom>
          <a:solidFill>
            <a:srgbClr val="6D28D9"/>
          </a:solidFill>
          <a:ln w="12700">
            <a:solidFill>
              <a:srgbClr val="DDD6FE"/>
            </a:solidFill>
            <a:prstDash val="solid"/>
          </a:ln>
        </p:spPr>
      </p:sp>
      <p:pic>
        <p:nvPicPr>
          <p:cNvPr id="13" name="Image 3" descr="preencoded.png">    </p:cNvPr>
          <p:cNvPicPr>
            <a:picLocks noChangeAspect="1"/>
          </p:cNvPicPr>
          <p:nvPr/>
        </p:nvPicPr>
        <p:blipFill>
          <a:blip r:embed="rId4"/>
          <a:stretch>
            <a:fillRect/>
          </a:stretch>
        </p:blipFill>
        <p:spPr>
          <a:xfrm>
            <a:off x="7653528" y="2075688"/>
            <a:ext cx="365760" cy="365760"/>
          </a:xfrm>
          <a:prstGeom prst="rect">
            <a:avLst/>
          </a:prstGeom>
        </p:spPr>
      </p:pic>
      <p:sp>
        <p:nvSpPr>
          <p:cNvPr id="14" name="Text 8"/>
          <p:cNvSpPr txBox="1"/>
          <p:nvPr/>
        </p:nvSpPr>
        <p:spPr>
          <a:xfrm>
            <a:off x="6309360" y="3017520"/>
            <a:ext cx="2194560" cy="365760"/>
          </a:xfrm>
          <a:prstGeom prst="rect">
            <a:avLst/>
          </a:prstGeom>
          <a:noFill/>
          <a:ln/>
        </p:spPr>
        <p:txBody>
          <a:bodyPr wrap="square" lIns="0" tIns="0" rIns="0" bIns="0" rtlCol="0" anchor="ctr"/>
          <a:lstStyle/>
          <a:p>
            <a:pPr algn="ctr" indent="0" marL="0">
              <a:buNone/>
            </a:pPr>
            <a:r>
              <a:rPr lang="en-US" sz="1600" b="1" dirty="0">
                <a:solidFill>
                  <a:srgbClr val="FBBF24"/>
                </a:solidFill>
                <a:latin typeface="Calibri" pitchFamily="34" charset="0"/>
                <a:ea typeface="Calibri" pitchFamily="34" charset="-122"/>
                <a:cs typeface="Calibri" pitchFamily="34" charset="-120"/>
              </a:rPr>
              <a:t>4 puzzles</a:t>
            </a:r>
            <a:endParaRPr lang="en-US" sz="1600" dirty="0"/>
          </a:p>
        </p:txBody>
      </p:sp>
      <p:sp>
        <p:nvSpPr>
          <p:cNvPr id="15" name="Shape 9"/>
          <p:cNvSpPr/>
          <p:nvPr/>
        </p:nvSpPr>
        <p:spPr>
          <a:xfrm>
            <a:off x="7635240" y="4160520"/>
            <a:ext cx="548640" cy="548640"/>
          </a:xfrm>
          <a:prstGeom prst="ellipse">
            <a:avLst/>
          </a:prstGeom>
          <a:solidFill>
            <a:srgbClr val="FBBF24"/>
          </a:solidFill>
          <a:ln w="12700">
            <a:solidFill>
              <a:srgbClr val="FBBF24"/>
            </a:solidFill>
            <a:prstDash val="solid"/>
          </a:ln>
        </p:spPr>
      </p:sp>
      <p:pic>
        <p:nvPicPr>
          <p:cNvPr id="16" name="Image 4" descr="preencoded.png">    </p:cNvPr>
          <p:cNvPicPr>
            <a:picLocks noChangeAspect="1"/>
          </p:cNvPicPr>
          <p:nvPr/>
        </p:nvPicPr>
        <p:blipFill>
          <a:blip r:embed="rId5"/>
          <a:stretch>
            <a:fillRect/>
          </a:stretch>
        </p:blipFill>
        <p:spPr>
          <a:xfrm>
            <a:off x="7772400" y="4297680"/>
            <a:ext cx="274320" cy="274320"/>
          </a:xfrm>
          <a:prstGeom prst="rect">
            <a:avLst/>
          </a:prstGeom>
        </p:spPr>
      </p:pic>
      <p:sp>
        <p:nvSpPr>
          <p:cNvPr id="17" name="Text 10"/>
          <p:cNvSpPr txBox="1"/>
          <p:nvPr/>
        </p:nvSpPr>
        <p:spPr>
          <a:xfrm>
            <a:off x="5943600" y="4251960"/>
            <a:ext cx="1645920" cy="365760"/>
          </a:xfrm>
          <a:prstGeom prst="rect">
            <a:avLst/>
          </a:prstGeom>
          <a:noFill/>
          <a:ln/>
        </p:spPr>
        <p:txBody>
          <a:bodyPr wrap="square" lIns="0" tIns="0" rIns="0" bIns="0" rtlCol="0" anchor="ctr"/>
          <a:lstStyle/>
          <a:p>
            <a:pPr algn="r" indent="0" marL="0">
              <a:buNone/>
            </a:pPr>
            <a:r>
              <a:rPr lang="en-US" sz="1300" i="1" dirty="0">
                <a:solidFill>
                  <a:srgbClr val="DDD6FE"/>
                </a:solidFill>
                <a:latin typeface="Calibri" pitchFamily="34" charset="0"/>
                <a:ea typeface="Calibri" pitchFamily="34" charset="-122"/>
                <a:cs typeface="Calibri" pitchFamily="34" charset="-120"/>
              </a:rPr>
              <a:t>AI generated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498080" cy="548640"/>
          </a:xfrm>
          <a:prstGeom prst="rect">
            <a:avLst/>
          </a:prstGeom>
          <a:noFill/>
          <a:ln/>
        </p:spPr>
        <p:txBody>
          <a:bodyPr wrap="square" lIns="0" tIns="0" rIns="0" bIns="0" rtlCol="0" anchor="ctr"/>
          <a:lstStyle/>
          <a:p>
            <a:pPr indent="0" marL="0">
              <a:buNone/>
            </a:pPr>
            <a:r>
              <a:rPr lang="en-US" sz="3000" b="1" dirty="0">
                <a:solidFill>
                  <a:srgbClr val="2E1065"/>
                </a:solidFill>
                <a:latin typeface="Cambria" pitchFamily="34" charset="0"/>
                <a:ea typeface="Cambria" pitchFamily="34" charset="-122"/>
                <a:cs typeface="Cambria" pitchFamily="34" charset="-120"/>
              </a:rPr>
              <a:t>Abstract</a:t>
            </a:r>
            <a:endParaRPr lang="en-US" sz="3000" dirty="0"/>
          </a:p>
        </p:txBody>
      </p:sp>
      <p:sp>
        <p:nvSpPr>
          <p:cNvPr id="3" name="Text 1"/>
          <p:cNvSpPr txBox="1"/>
          <p:nvPr/>
        </p:nvSpPr>
        <p:spPr>
          <a:xfrm>
            <a:off x="457200" y="804672"/>
            <a:ext cx="7498080" cy="274320"/>
          </a:xfrm>
          <a:prstGeom prst="rect">
            <a:avLst/>
          </a:prstGeom>
          <a:noFill/>
          <a:ln/>
        </p:spPr>
        <p:txBody>
          <a:bodyPr wrap="square" lIns="0" tIns="0" rIns="0" bIns="0" rtlCol="0" anchor="ctr"/>
          <a:lstStyle/>
          <a:p>
            <a:pPr indent="0" marL="0">
              <a:buNone/>
            </a:pPr>
            <a:r>
              <a:rPr lang="en-US" sz="1400" dirty="0">
                <a:solidFill>
                  <a:srgbClr val="6B6488"/>
                </a:solidFill>
                <a:latin typeface="Calibri" pitchFamily="34" charset="0"/>
                <a:ea typeface="Calibri" pitchFamily="34" charset="-122"/>
                <a:cs typeface="Calibri" pitchFamily="34" charset="-120"/>
              </a:rPr>
              <a:t>Why fixed puzzles get boring, and what we built</a:t>
            </a:r>
            <a:endParaRPr lang="en-US" sz="1400" dirty="0"/>
          </a:p>
        </p:txBody>
      </p:sp>
      <p:sp>
        <p:nvSpPr>
          <p:cNvPr id="4" name="Text 2"/>
          <p:cNvSpPr txBox="1"/>
          <p:nvPr/>
        </p:nvSpPr>
        <p:spPr>
          <a:xfrm>
            <a:off x="457200" y="1280160"/>
            <a:ext cx="4754880" cy="3383280"/>
          </a:xfrm>
          <a:prstGeom prst="rect">
            <a:avLst/>
          </a:prstGeom>
          <a:noFill/>
          <a:ln/>
        </p:spPr>
        <p:txBody>
          <a:bodyPr wrap="square" lIns="0" tIns="0" rIns="0" bIns="0" rtlCol="0" anchor="t"/>
          <a:lstStyle/>
          <a:p>
            <a:pPr indent="0" marL="0">
              <a:spcAft>
                <a:spcPts val="800"/>
              </a:spcAft>
              <a:buNone/>
            </a:pPr>
            <a:r>
              <a:rPr lang="en-US" sz="1300" dirty="0">
                <a:solidFill>
                  <a:srgbClr val="1F1B2E"/>
                </a:solidFill>
                <a:latin typeface="Calibri" pitchFamily="34" charset="0"/>
                <a:ea typeface="Calibri" pitchFamily="34" charset="-122"/>
                <a:cs typeface="Calibri" pitchFamily="34" charset="-120"/>
              </a:rPr>
              <a:t>Most escape-room games use hand-written puzzles that are fixed, can be memorised and cannot adapt to the player.</a:t>
            </a:r>
            <a:endParaRPr lang="en-US" sz="1300" dirty="0"/>
          </a:p>
          <a:p>
            <a:pPr indent="0" marL="0">
              <a:spcAft>
                <a:spcPts val="800"/>
              </a:spcAft>
              <a:buNone/>
            </a:pPr>
            <a:r>
              <a:rPr lang="en-US" sz="1300" dirty="0">
                <a:solidFill>
                  <a:srgbClr val="1F1B2E"/>
                </a:solidFill>
                <a:latin typeface="Calibri" pitchFamily="34" charset="0"/>
                <a:ea typeface="Calibri" pitchFamily="34" charset="-122"/>
                <a:cs typeface="Calibri" pitchFamily="34" charset="-120"/>
              </a:rPr>
              <a:t>AI Puzzle Escape treats every puzzle as a Constraint Satisfaction Problem (CSP). A backtracking search generates a valid answer first, then builds the clues (constraints) that lead to exactly that answer. Every playthrough is different.</a:t>
            </a:r>
            <a:endParaRPr lang="en-US" sz="1300" dirty="0"/>
          </a:p>
          <a:p>
            <a:pPr indent="0" marL="0">
              <a:spcAft>
                <a:spcPts val="800"/>
              </a:spcAft>
              <a:buNone/>
            </a:pPr>
            <a:r>
              <a:rPr lang="en-US" sz="1300" dirty="0">
                <a:solidFill>
                  <a:srgbClr val="1F1B2E"/>
                </a:solidFill>
                <a:latin typeface="Calibri" pitchFamily="34" charset="0"/>
                <a:ea typeface="Calibri" pitchFamily="34" charset="-122"/>
                <a:cs typeface="Calibri" pitchFamily="34" charset="-120"/>
              </a:rPr>
              <a:t>The game has four stages: Number Lock, Object Arrangement, Logic Doors and Final Escape. An AI Status panel shows backtracks and constraint checks, and the difficulty changes automatically (MEDIUM to EASY) when the player struggles, with extra hints unlocked.</a:t>
            </a:r>
            <a:endParaRPr lang="en-US" sz="1300" dirty="0"/>
          </a:p>
          <a:p>
            <a:pPr indent="0" marL="0">
              <a:buNone/>
            </a:pPr>
            <a:r>
              <a:rPr lang="en-US" sz="1100" i="1" dirty="0">
                <a:solidFill>
                  <a:srgbClr val="6B6488"/>
                </a:solidFill>
                <a:latin typeface="Calibri" pitchFamily="34" charset="0"/>
                <a:ea typeface="Calibri" pitchFamily="34" charset="-122"/>
                <a:cs typeface="Calibri" pitchFamily="34" charset="-120"/>
              </a:rPr>
              <a:t>Keywords: CSP, backtracking, constraint checks, adaptive difficulty, logic puzzles, hint system</a:t>
            </a:r>
            <a:endParaRPr lang="en-US" sz="1300" dirty="0"/>
          </a:p>
        </p:txBody>
      </p:sp>
      <p:sp>
        <p:nvSpPr>
          <p:cNvPr id="5" name="Shape 3"/>
          <p:cNvSpPr/>
          <p:nvPr/>
        </p:nvSpPr>
        <p:spPr>
          <a:xfrm>
            <a:off x="5486400" y="1280160"/>
            <a:ext cx="1371600" cy="1463040"/>
          </a:xfrm>
          <a:prstGeom prst="roundRect">
            <a:avLst>
              <a:gd name="adj" fmla="val 6667"/>
            </a:avLst>
          </a:prstGeom>
          <a:solidFill>
            <a:srgbClr val="F5F3FF"/>
          </a:solidFill>
          <a:ln w="15875">
            <a:solidFill>
              <a:srgbClr val="A78BFA"/>
            </a:solidFill>
            <a:prstDash val="dash"/>
          </a:ln>
        </p:spPr>
      </p:sp>
      <p:sp>
        <p:nvSpPr>
          <p:cNvPr id="6" name="Text 4"/>
          <p:cNvSpPr txBox="1"/>
          <p:nvPr/>
        </p:nvSpPr>
        <p:spPr>
          <a:xfrm>
            <a:off x="5486400" y="1463040"/>
            <a:ext cx="1371600" cy="502920"/>
          </a:xfrm>
          <a:prstGeom prst="rect">
            <a:avLst/>
          </a:prstGeom>
          <a:noFill/>
          <a:ln/>
        </p:spPr>
        <p:txBody>
          <a:bodyPr wrap="square" lIns="0" tIns="0" rIns="0" bIns="0" rtlCol="0" anchor="ctr"/>
          <a:lstStyle/>
          <a:p>
            <a:pPr algn="ctr" indent="0" marL="0">
              <a:buNone/>
            </a:pPr>
            <a:r>
              <a:rPr lang="en-US" sz="3000" dirty="0">
                <a:solidFill>
                  <a:srgbClr val="6D28D9"/>
                </a:solidFill>
                <a:latin typeface="Cambria" pitchFamily="34" charset="0"/>
                <a:ea typeface="Cambria" pitchFamily="34" charset="-122"/>
                <a:cs typeface="Cambria" pitchFamily="34" charset="-120"/>
              </a:rPr>
              <a:t>4</a:t>
            </a:r>
            <a:endParaRPr lang="en-US" sz="3000" dirty="0"/>
          </a:p>
        </p:txBody>
      </p:sp>
      <p:sp>
        <p:nvSpPr>
          <p:cNvPr id="7" name="Text 5"/>
          <p:cNvSpPr txBox="1"/>
          <p:nvPr/>
        </p:nvSpPr>
        <p:spPr>
          <a:xfrm>
            <a:off x="5486400" y="2011680"/>
            <a:ext cx="1371600" cy="274320"/>
          </a:xfrm>
          <a:prstGeom prst="rect">
            <a:avLst/>
          </a:prstGeom>
          <a:noFill/>
          <a:ln/>
        </p:spPr>
        <p:txBody>
          <a:bodyPr wrap="square" lIns="0" tIns="0" rIns="0" bIns="0" rtlCol="0" anchor="ctr"/>
          <a:lstStyle/>
          <a:p>
            <a:pPr algn="ctr" indent="0" marL="0">
              <a:buNone/>
            </a:pPr>
            <a:r>
              <a:rPr lang="en-US" sz="1200" b="1" dirty="0">
                <a:solidFill>
                  <a:srgbClr val="1F1B2E"/>
                </a:solidFill>
                <a:latin typeface="Calibri" pitchFamily="34" charset="0"/>
                <a:ea typeface="Calibri" pitchFamily="34" charset="-122"/>
                <a:cs typeface="Calibri" pitchFamily="34" charset="-120"/>
              </a:rPr>
              <a:t>Puzzles</a:t>
            </a:r>
            <a:endParaRPr lang="en-US" sz="1200" dirty="0"/>
          </a:p>
        </p:txBody>
      </p:sp>
      <p:sp>
        <p:nvSpPr>
          <p:cNvPr id="8" name="Text 6"/>
          <p:cNvSpPr txBox="1"/>
          <p:nvPr/>
        </p:nvSpPr>
        <p:spPr>
          <a:xfrm>
            <a:off x="5532120" y="2286000"/>
            <a:ext cx="1280160" cy="365760"/>
          </a:xfrm>
          <a:prstGeom prst="rect">
            <a:avLst/>
          </a:prstGeom>
          <a:noFill/>
          <a:ln/>
        </p:spPr>
        <p:txBody>
          <a:bodyPr wrap="square" lIns="0" tIns="0" rIns="0" bIns="0" rtlCol="0" anchor="ctr"/>
          <a:lstStyle/>
          <a:p>
            <a:pPr algn="ctr" indent="0" marL="0">
              <a:buNone/>
            </a:pPr>
            <a:r>
              <a:rPr lang="en-US" sz="1000" dirty="0">
                <a:solidFill>
                  <a:srgbClr val="6B6488"/>
                </a:solidFill>
                <a:latin typeface="Calibri" pitchFamily="34" charset="0"/>
                <a:ea typeface="Calibri" pitchFamily="34" charset="-122"/>
                <a:cs typeface="Calibri" pitchFamily="34" charset="-120"/>
              </a:rPr>
              <a:t>lock, objects, doors, exit</a:t>
            </a:r>
            <a:endParaRPr lang="en-US" sz="1000" dirty="0"/>
          </a:p>
        </p:txBody>
      </p:sp>
      <p:sp>
        <p:nvSpPr>
          <p:cNvPr id="9" name="Shape 7"/>
          <p:cNvSpPr/>
          <p:nvPr/>
        </p:nvSpPr>
        <p:spPr>
          <a:xfrm>
            <a:off x="6995160" y="1280160"/>
            <a:ext cx="1371600" cy="1463040"/>
          </a:xfrm>
          <a:prstGeom prst="roundRect">
            <a:avLst>
              <a:gd name="adj" fmla="val 6667"/>
            </a:avLst>
          </a:prstGeom>
          <a:solidFill>
            <a:srgbClr val="F5F3FF"/>
          </a:solidFill>
          <a:ln w="15875">
            <a:solidFill>
              <a:srgbClr val="A78BFA"/>
            </a:solidFill>
            <a:prstDash val="dash"/>
          </a:ln>
        </p:spPr>
      </p:sp>
      <p:sp>
        <p:nvSpPr>
          <p:cNvPr id="10" name="Text 8"/>
          <p:cNvSpPr txBox="1"/>
          <p:nvPr/>
        </p:nvSpPr>
        <p:spPr>
          <a:xfrm>
            <a:off x="6995160" y="1463040"/>
            <a:ext cx="1371600" cy="502920"/>
          </a:xfrm>
          <a:prstGeom prst="rect">
            <a:avLst/>
          </a:prstGeom>
          <a:noFill/>
          <a:ln/>
        </p:spPr>
        <p:txBody>
          <a:bodyPr wrap="square" lIns="0" tIns="0" rIns="0" bIns="0" rtlCol="0" anchor="ctr"/>
          <a:lstStyle/>
          <a:p>
            <a:pPr algn="ctr" indent="0" marL="0">
              <a:buNone/>
            </a:pPr>
            <a:r>
              <a:rPr lang="en-US" sz="3000" dirty="0">
                <a:solidFill>
                  <a:srgbClr val="6D28D9"/>
                </a:solidFill>
                <a:latin typeface="Cambria" pitchFamily="34" charset="0"/>
                <a:ea typeface="Cambria" pitchFamily="34" charset="-122"/>
                <a:cs typeface="Cambria" pitchFamily="34" charset="-120"/>
              </a:rPr>
              <a:t>CSP</a:t>
            </a:r>
            <a:endParaRPr lang="en-US" sz="3000" dirty="0"/>
          </a:p>
        </p:txBody>
      </p:sp>
      <p:sp>
        <p:nvSpPr>
          <p:cNvPr id="11" name="Text 9"/>
          <p:cNvSpPr txBox="1"/>
          <p:nvPr/>
        </p:nvSpPr>
        <p:spPr>
          <a:xfrm>
            <a:off x="6995160" y="2011680"/>
            <a:ext cx="1371600" cy="274320"/>
          </a:xfrm>
          <a:prstGeom prst="rect">
            <a:avLst/>
          </a:prstGeom>
          <a:noFill/>
          <a:ln/>
        </p:spPr>
        <p:txBody>
          <a:bodyPr wrap="square" lIns="0" tIns="0" rIns="0" bIns="0" rtlCol="0" anchor="ctr"/>
          <a:lstStyle/>
          <a:p>
            <a:pPr algn="ctr" indent="0" marL="0">
              <a:buNone/>
            </a:pPr>
            <a:r>
              <a:rPr lang="en-US" sz="1200" b="1" dirty="0">
                <a:solidFill>
                  <a:srgbClr val="1F1B2E"/>
                </a:solidFill>
                <a:latin typeface="Calibri" pitchFamily="34" charset="0"/>
                <a:ea typeface="Calibri" pitchFamily="34" charset="-122"/>
                <a:cs typeface="Calibri" pitchFamily="34" charset="-120"/>
              </a:rPr>
              <a:t>AI algorithm</a:t>
            </a:r>
            <a:endParaRPr lang="en-US" sz="1200" dirty="0"/>
          </a:p>
        </p:txBody>
      </p:sp>
      <p:sp>
        <p:nvSpPr>
          <p:cNvPr id="12" name="Text 10"/>
          <p:cNvSpPr txBox="1"/>
          <p:nvPr/>
        </p:nvSpPr>
        <p:spPr>
          <a:xfrm>
            <a:off x="7040880" y="2286000"/>
            <a:ext cx="1280160" cy="365760"/>
          </a:xfrm>
          <a:prstGeom prst="rect">
            <a:avLst/>
          </a:prstGeom>
          <a:noFill/>
          <a:ln/>
        </p:spPr>
        <p:txBody>
          <a:bodyPr wrap="square" lIns="0" tIns="0" rIns="0" bIns="0" rtlCol="0" anchor="ctr"/>
          <a:lstStyle/>
          <a:p>
            <a:pPr algn="ctr" indent="0" marL="0">
              <a:buNone/>
            </a:pPr>
            <a:r>
              <a:rPr lang="en-US" sz="1000" dirty="0">
                <a:solidFill>
                  <a:srgbClr val="6B6488"/>
                </a:solidFill>
                <a:latin typeface="Calibri" pitchFamily="34" charset="0"/>
                <a:ea typeface="Calibri" pitchFamily="34" charset="-122"/>
                <a:cs typeface="Calibri" pitchFamily="34" charset="-120"/>
              </a:rPr>
              <a:t>+ backtracking</a:t>
            </a:r>
            <a:endParaRPr lang="en-US" sz="1000" dirty="0"/>
          </a:p>
        </p:txBody>
      </p:sp>
      <p:sp>
        <p:nvSpPr>
          <p:cNvPr id="13" name="Shape 11"/>
          <p:cNvSpPr/>
          <p:nvPr/>
        </p:nvSpPr>
        <p:spPr>
          <a:xfrm>
            <a:off x="5486400" y="2926080"/>
            <a:ext cx="1371600" cy="1463040"/>
          </a:xfrm>
          <a:prstGeom prst="roundRect">
            <a:avLst>
              <a:gd name="adj" fmla="val 6667"/>
            </a:avLst>
          </a:prstGeom>
          <a:solidFill>
            <a:srgbClr val="F5F3FF"/>
          </a:solidFill>
          <a:ln w="15875">
            <a:solidFill>
              <a:srgbClr val="A78BFA"/>
            </a:solidFill>
            <a:prstDash val="dash"/>
          </a:ln>
        </p:spPr>
      </p:sp>
      <p:sp>
        <p:nvSpPr>
          <p:cNvPr id="14" name="Text 12"/>
          <p:cNvSpPr txBox="1"/>
          <p:nvPr/>
        </p:nvSpPr>
        <p:spPr>
          <a:xfrm>
            <a:off x="5486400" y="3108960"/>
            <a:ext cx="1371600" cy="502920"/>
          </a:xfrm>
          <a:prstGeom prst="rect">
            <a:avLst/>
          </a:prstGeom>
          <a:noFill/>
          <a:ln/>
        </p:spPr>
        <p:txBody>
          <a:bodyPr wrap="square" lIns="0" tIns="0" rIns="0" bIns="0" rtlCol="0" anchor="ctr"/>
          <a:lstStyle/>
          <a:p>
            <a:pPr algn="ctr" indent="0" marL="0">
              <a:buNone/>
            </a:pPr>
            <a:r>
              <a:rPr lang="en-US" sz="3000" dirty="0">
                <a:solidFill>
                  <a:srgbClr val="6D28D9"/>
                </a:solidFill>
                <a:latin typeface="Cambria" pitchFamily="34" charset="0"/>
                <a:ea typeface="Cambria" pitchFamily="34" charset="-122"/>
                <a:cs typeface="Cambria" pitchFamily="34" charset="-120"/>
              </a:rPr>
              <a:t>3</a:t>
            </a:r>
            <a:endParaRPr lang="en-US" sz="3000" dirty="0"/>
          </a:p>
        </p:txBody>
      </p:sp>
      <p:sp>
        <p:nvSpPr>
          <p:cNvPr id="15" name="Text 13"/>
          <p:cNvSpPr txBox="1"/>
          <p:nvPr/>
        </p:nvSpPr>
        <p:spPr>
          <a:xfrm>
            <a:off x="5486400" y="3657600"/>
            <a:ext cx="1371600" cy="274320"/>
          </a:xfrm>
          <a:prstGeom prst="rect">
            <a:avLst/>
          </a:prstGeom>
          <a:noFill/>
          <a:ln/>
        </p:spPr>
        <p:txBody>
          <a:bodyPr wrap="square" lIns="0" tIns="0" rIns="0" bIns="0" rtlCol="0" anchor="ctr"/>
          <a:lstStyle/>
          <a:p>
            <a:pPr algn="ctr" indent="0" marL="0">
              <a:buNone/>
            </a:pPr>
            <a:r>
              <a:rPr lang="en-US" sz="1200" b="1" dirty="0">
                <a:solidFill>
                  <a:srgbClr val="1F1B2E"/>
                </a:solidFill>
                <a:latin typeface="Calibri" pitchFamily="34" charset="0"/>
                <a:ea typeface="Calibri" pitchFamily="34" charset="-122"/>
                <a:cs typeface="Calibri" pitchFamily="34" charset="-120"/>
              </a:rPr>
              <a:t>Constraint types</a:t>
            </a:r>
            <a:endParaRPr lang="en-US" sz="1200" dirty="0"/>
          </a:p>
        </p:txBody>
      </p:sp>
      <p:sp>
        <p:nvSpPr>
          <p:cNvPr id="16" name="Text 14"/>
          <p:cNvSpPr txBox="1"/>
          <p:nvPr/>
        </p:nvSpPr>
        <p:spPr>
          <a:xfrm>
            <a:off x="5532120" y="3931920"/>
            <a:ext cx="1280160" cy="365760"/>
          </a:xfrm>
          <a:prstGeom prst="rect">
            <a:avLst/>
          </a:prstGeom>
          <a:noFill/>
          <a:ln/>
        </p:spPr>
        <p:txBody>
          <a:bodyPr wrap="square" lIns="0" tIns="0" rIns="0" bIns="0" rtlCol="0" anchor="ctr"/>
          <a:lstStyle/>
          <a:p>
            <a:pPr algn="ctr" indent="0" marL="0">
              <a:buNone/>
            </a:pPr>
            <a:r>
              <a:rPr lang="en-US" sz="1000" dirty="0">
                <a:solidFill>
                  <a:srgbClr val="6B6488"/>
                </a:solidFill>
                <a:latin typeface="Calibri" pitchFamily="34" charset="0"/>
                <a:ea typeface="Calibri" pitchFamily="34" charset="-122"/>
                <a:cs typeface="Calibri" pitchFamily="34" charset="-120"/>
              </a:rPr>
              <a:t>digits, order, truth</a:t>
            </a:r>
            <a:endParaRPr lang="en-US" sz="1000" dirty="0"/>
          </a:p>
        </p:txBody>
      </p:sp>
      <p:sp>
        <p:nvSpPr>
          <p:cNvPr id="17" name="Shape 15"/>
          <p:cNvSpPr/>
          <p:nvPr/>
        </p:nvSpPr>
        <p:spPr>
          <a:xfrm>
            <a:off x="6995160" y="2926080"/>
            <a:ext cx="1371600" cy="1463040"/>
          </a:xfrm>
          <a:prstGeom prst="roundRect">
            <a:avLst>
              <a:gd name="adj" fmla="val 6667"/>
            </a:avLst>
          </a:prstGeom>
          <a:solidFill>
            <a:srgbClr val="D1FAE5"/>
          </a:solidFill>
          <a:ln w="15875">
            <a:solidFill>
              <a:srgbClr val="059669"/>
            </a:solidFill>
            <a:prstDash val="dash"/>
          </a:ln>
        </p:spPr>
      </p:sp>
      <p:sp>
        <p:nvSpPr>
          <p:cNvPr id="18" name="Text 16"/>
          <p:cNvSpPr txBox="1"/>
          <p:nvPr/>
        </p:nvSpPr>
        <p:spPr>
          <a:xfrm>
            <a:off x="6995160" y="3108960"/>
            <a:ext cx="1371600" cy="502920"/>
          </a:xfrm>
          <a:prstGeom prst="rect">
            <a:avLst/>
          </a:prstGeom>
          <a:noFill/>
          <a:ln/>
        </p:spPr>
        <p:txBody>
          <a:bodyPr wrap="square" lIns="0" tIns="0" rIns="0" bIns="0" rtlCol="0" anchor="ctr"/>
          <a:lstStyle/>
          <a:p>
            <a:pPr algn="ctr" indent="0" marL="0">
              <a:buNone/>
            </a:pPr>
            <a:r>
              <a:rPr lang="en-US" sz="2000" dirty="0">
                <a:solidFill>
                  <a:srgbClr val="059669"/>
                </a:solidFill>
                <a:latin typeface="Cambria" pitchFamily="34" charset="0"/>
                <a:ea typeface="Cambria" pitchFamily="34" charset="-122"/>
                <a:cs typeface="Cambria" pitchFamily="34" charset="-120"/>
              </a:rPr>
              <a:t>Adaptive</a:t>
            </a:r>
            <a:endParaRPr lang="en-US" sz="2000" dirty="0"/>
          </a:p>
        </p:txBody>
      </p:sp>
      <p:sp>
        <p:nvSpPr>
          <p:cNvPr id="19" name="Text 17"/>
          <p:cNvSpPr txBox="1"/>
          <p:nvPr/>
        </p:nvSpPr>
        <p:spPr>
          <a:xfrm>
            <a:off x="6995160" y="3657600"/>
            <a:ext cx="1371600" cy="274320"/>
          </a:xfrm>
          <a:prstGeom prst="rect">
            <a:avLst/>
          </a:prstGeom>
          <a:noFill/>
          <a:ln/>
        </p:spPr>
        <p:txBody>
          <a:bodyPr wrap="square" lIns="0" tIns="0" rIns="0" bIns="0" rtlCol="0" anchor="ctr"/>
          <a:lstStyle/>
          <a:p>
            <a:pPr algn="ctr" indent="0" marL="0">
              <a:buNone/>
            </a:pPr>
            <a:r>
              <a:rPr lang="en-US" sz="1200" b="1" dirty="0">
                <a:solidFill>
                  <a:srgbClr val="1F1B2E"/>
                </a:solidFill>
                <a:latin typeface="Calibri" pitchFamily="34" charset="0"/>
                <a:ea typeface="Calibri" pitchFamily="34" charset="-122"/>
                <a:cs typeface="Calibri" pitchFamily="34" charset="-120"/>
              </a:rPr>
              <a:t>Difficulty</a:t>
            </a:r>
            <a:endParaRPr lang="en-US" sz="1200" dirty="0"/>
          </a:p>
        </p:txBody>
      </p:sp>
      <p:sp>
        <p:nvSpPr>
          <p:cNvPr id="20" name="Text 18"/>
          <p:cNvSpPr txBox="1"/>
          <p:nvPr/>
        </p:nvSpPr>
        <p:spPr>
          <a:xfrm>
            <a:off x="7040880" y="3931920"/>
            <a:ext cx="1280160" cy="365760"/>
          </a:xfrm>
          <a:prstGeom prst="rect">
            <a:avLst/>
          </a:prstGeom>
          <a:noFill/>
          <a:ln/>
        </p:spPr>
        <p:txBody>
          <a:bodyPr wrap="square" lIns="0" tIns="0" rIns="0" bIns="0" rtlCol="0" anchor="ctr"/>
          <a:lstStyle/>
          <a:p>
            <a:pPr algn="ctr" indent="0" marL="0">
              <a:buNone/>
            </a:pPr>
            <a:r>
              <a:rPr lang="en-US" sz="1000" dirty="0">
                <a:solidFill>
                  <a:srgbClr val="6B6488"/>
                </a:solidFill>
                <a:latin typeface="Calibri" pitchFamily="34" charset="0"/>
                <a:ea typeface="Calibri" pitchFamily="34" charset="-122"/>
                <a:cs typeface="Calibri" pitchFamily="34" charset="-120"/>
              </a:rPr>
              <a:t>EASY / MEDIUM</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498080" cy="548640"/>
          </a:xfrm>
          <a:prstGeom prst="rect">
            <a:avLst/>
          </a:prstGeom>
          <a:noFill/>
          <a:ln/>
        </p:spPr>
        <p:txBody>
          <a:bodyPr wrap="square" lIns="0" tIns="0" rIns="0" bIns="0" rtlCol="0" anchor="ctr"/>
          <a:lstStyle/>
          <a:p>
            <a:pPr indent="0" marL="0">
              <a:buNone/>
            </a:pPr>
            <a:r>
              <a:rPr lang="en-US" sz="3000" b="1" dirty="0">
                <a:solidFill>
                  <a:srgbClr val="2E1065"/>
                </a:solidFill>
                <a:latin typeface="Cambria" pitchFamily="34" charset="0"/>
                <a:ea typeface="Cambria" pitchFamily="34" charset="-122"/>
                <a:cs typeface="Cambria" pitchFamily="34" charset="-120"/>
              </a:rPr>
              <a:t>Literature Survey</a:t>
            </a:r>
            <a:endParaRPr lang="en-US" sz="3000" dirty="0"/>
          </a:p>
        </p:txBody>
      </p:sp>
      <p:sp>
        <p:nvSpPr>
          <p:cNvPr id="3" name="Text 1"/>
          <p:cNvSpPr txBox="1"/>
          <p:nvPr/>
        </p:nvSpPr>
        <p:spPr>
          <a:xfrm>
            <a:off x="457200" y="804672"/>
            <a:ext cx="7498080" cy="274320"/>
          </a:xfrm>
          <a:prstGeom prst="rect">
            <a:avLst/>
          </a:prstGeom>
          <a:noFill/>
          <a:ln/>
        </p:spPr>
        <p:txBody>
          <a:bodyPr wrap="square" lIns="0" tIns="0" rIns="0" bIns="0" rtlCol="0" anchor="ctr"/>
          <a:lstStyle/>
          <a:p>
            <a:pPr indent="0" marL="0">
              <a:buNone/>
            </a:pPr>
            <a:r>
              <a:rPr lang="en-US" sz="1400" dirty="0">
                <a:solidFill>
                  <a:srgbClr val="6B6488"/>
                </a:solidFill>
                <a:latin typeface="Calibri" pitchFamily="34" charset="0"/>
                <a:ea typeface="Calibri" pitchFamily="34" charset="-122"/>
                <a:cs typeface="Calibri" pitchFamily="34" charset="-120"/>
              </a:rPr>
              <a:t>Foundations for the CSP engine, logic puzzles and adaptive difficulty</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365760"/>
                <a:gridCol w="3017520"/>
                <a:gridCol w="2468880"/>
                <a:gridCol w="237744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9525" cap="flat" cmpd="sng" algn="ctr">
                      <a:solidFill>
                        <a:srgbClr val="DDD6FE"/>
                      </a:solidFill>
                      <a:prstDash val="solid"/>
                      <a:round/>
                      <a:headEnd type="none" w="med" len="med"/>
                      <a:tailEnd type="none" w="med" len="med"/>
                    </a:lnL>
                    <a:lnR w="9525" cap="flat" cmpd="sng" algn="ctr">
                      <a:solidFill>
                        <a:srgbClr val="DDD6FE"/>
                      </a:solidFill>
                      <a:prstDash val="solid"/>
                      <a:round/>
                      <a:headEnd type="none" w="med" len="med"/>
                      <a:tailEnd type="none" w="med" len="med"/>
                    </a:lnR>
                    <a:lnT w="9525" cap="flat" cmpd="sng" algn="ctr">
                      <a:solidFill>
                        <a:srgbClr val="DDD6FE"/>
                      </a:solidFill>
                      <a:prstDash val="solid"/>
                      <a:round/>
                      <a:headEnd type="none" w="med" len="med"/>
                      <a:tailEnd type="none" w="med" len="med"/>
                    </a:lnT>
                    <a:lnB w="9525" cap="flat" cmpd="sng" algn="ctr">
                      <a:solidFill>
                        <a:srgbClr val="DDD6FE"/>
                      </a:solidFill>
                      <a:prstDash val="solid"/>
                      <a:round/>
                      <a:headEnd type="none" w="med" len="med"/>
                      <a:tailEnd type="none" w="med" len="med"/>
                    </a:lnB>
                    <a:solidFill>
                      <a:srgbClr val="6D28D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Reference</a:t>
                      </a:r>
                      <a:endParaRPr lang="en-US" sz="1100" dirty="0">
                        <a:latin typeface="Calibri" charset="0"/>
                        <a:ea typeface="Calibri" charset="0"/>
                        <a:cs typeface="Calibri" charset="0"/>
                      </a:endParaRPr>
                    </a:p>
                  </a:txBody>
                  <a:tcPr marL="91440" marR="91440" marT="45720" marB="45720" anchor="ctr">
                    <a:lnL w="9525" cap="flat" cmpd="sng" algn="ctr">
                      <a:solidFill>
                        <a:srgbClr val="DDD6FE"/>
                      </a:solidFill>
                      <a:prstDash val="solid"/>
                      <a:round/>
                      <a:headEnd type="none" w="med" len="med"/>
                      <a:tailEnd type="none" w="med" len="med"/>
                    </a:lnL>
                    <a:lnR w="9525" cap="flat" cmpd="sng" algn="ctr">
                      <a:solidFill>
                        <a:srgbClr val="DDD6FE"/>
                      </a:solidFill>
                      <a:prstDash val="solid"/>
                      <a:round/>
                      <a:headEnd type="none" w="med" len="med"/>
                      <a:tailEnd type="none" w="med" len="med"/>
                    </a:lnR>
                    <a:lnT w="9525" cap="flat" cmpd="sng" algn="ctr">
                      <a:solidFill>
                        <a:srgbClr val="DDD6FE"/>
                      </a:solidFill>
                      <a:prstDash val="solid"/>
                      <a:round/>
                      <a:headEnd type="none" w="med" len="med"/>
                      <a:tailEnd type="none" w="med" len="med"/>
                    </a:lnT>
                    <a:lnB w="9525" cap="flat" cmpd="sng" algn="ctr">
                      <a:solidFill>
                        <a:srgbClr val="DDD6FE"/>
                      </a:solidFill>
                      <a:prstDash val="solid"/>
                      <a:round/>
                      <a:headEnd type="none" w="med" len="med"/>
                      <a:tailEnd type="none" w="med" len="med"/>
                    </a:lnB>
                    <a:solidFill>
                      <a:srgbClr val="6D28D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Contribution</a:t>
                      </a:r>
                      <a:endParaRPr lang="en-US" sz="1100" dirty="0">
                        <a:latin typeface="Calibri" charset="0"/>
                        <a:ea typeface="Calibri" charset="0"/>
                        <a:cs typeface="Calibri" charset="0"/>
                      </a:endParaRPr>
                    </a:p>
                  </a:txBody>
                  <a:tcPr marL="91440" marR="91440" marT="45720" marB="45720" anchor="ctr">
                    <a:lnL w="9525" cap="flat" cmpd="sng" algn="ctr">
                      <a:solidFill>
                        <a:srgbClr val="DDD6FE"/>
                      </a:solidFill>
                      <a:prstDash val="solid"/>
                      <a:round/>
                      <a:headEnd type="none" w="med" len="med"/>
                      <a:tailEnd type="none" w="med" len="med"/>
                    </a:lnL>
                    <a:lnR w="9525" cap="flat" cmpd="sng" algn="ctr">
                      <a:solidFill>
                        <a:srgbClr val="DDD6FE"/>
                      </a:solidFill>
                      <a:prstDash val="solid"/>
                      <a:round/>
                      <a:headEnd type="none" w="med" len="med"/>
                      <a:tailEnd type="none" w="med" len="med"/>
                    </a:lnR>
                    <a:lnT w="9525" cap="flat" cmpd="sng" algn="ctr">
                      <a:solidFill>
                        <a:srgbClr val="DDD6FE"/>
                      </a:solidFill>
                      <a:prstDash val="solid"/>
                      <a:round/>
                      <a:headEnd type="none" w="med" len="med"/>
                      <a:tailEnd type="none" w="med" len="med"/>
                    </a:lnT>
                    <a:lnB w="9525" cap="flat" cmpd="sng" algn="ctr">
                      <a:solidFill>
                        <a:srgbClr val="DDD6FE"/>
                      </a:solidFill>
                      <a:prstDash val="solid"/>
                      <a:round/>
                      <a:headEnd type="none" w="med" len="med"/>
                      <a:tailEnd type="none" w="med" len="med"/>
                    </a:lnB>
                    <a:solidFill>
                      <a:srgbClr val="6D28D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Relevance to our work</a:t>
                      </a:r>
                      <a:endParaRPr lang="en-US" sz="1100" dirty="0">
                        <a:latin typeface="Calibri" charset="0"/>
                        <a:ea typeface="Calibri" charset="0"/>
                        <a:cs typeface="Calibri" charset="0"/>
                      </a:endParaRPr>
                    </a:p>
                  </a:txBody>
                  <a:tcPr marL="91440" marR="91440" marT="45720" marB="45720" anchor="ctr">
                    <a:lnL w="9525" cap="flat" cmpd="sng" algn="ctr">
                      <a:solidFill>
                        <a:srgbClr val="DDD6FE"/>
                      </a:solidFill>
                      <a:prstDash val="solid"/>
                      <a:round/>
                      <a:headEnd type="none" w="med" len="med"/>
                      <a:tailEnd type="none" w="med" len="med"/>
                    </a:lnL>
                    <a:lnR w="9525" cap="flat" cmpd="sng" algn="ctr">
                      <a:solidFill>
                        <a:srgbClr val="DDD6FE"/>
                      </a:solidFill>
                      <a:prstDash val="solid"/>
                      <a:round/>
                      <a:headEnd type="none" w="med" len="med"/>
                      <a:tailEnd type="none" w="med" len="med"/>
                    </a:lnR>
                    <a:lnT w="9525" cap="flat" cmpd="sng" algn="ctr">
                      <a:solidFill>
                        <a:srgbClr val="DDD6FE"/>
                      </a:solidFill>
                      <a:prstDash val="solid"/>
                      <a:round/>
                      <a:headEnd type="none" w="med" len="med"/>
                      <a:tailEnd type="none" w="med" len="med"/>
                    </a:lnT>
                    <a:lnB w="9525" cap="flat" cmpd="sng" algn="ctr">
                      <a:solidFill>
                        <a:srgbClr val="DDD6FE"/>
                      </a:solidFill>
                      <a:prstDash val="solid"/>
                      <a:round/>
                      <a:headEnd type="none" w="med" len="med"/>
                      <a:tailEnd type="none" w="med" len="med"/>
                    </a:lnB>
                    <a:solidFill>
                      <a:srgbClr val="6D28D9"/>
                    </a:solidFill>
                  </a:tcPr>
                </a:tc>
              </a:tr>
              <a:tr h="502920">
                <a:tc>
                  <a:txBody>
                    <a:bodyPr/>
                    <a:lstStyle/>
                    <a:p>
                      <a:pPr indent="0" marL="0">
                        <a:buNone/>
                      </a:pPr>
                      <a:r>
                        <a:rPr lang="en-US" sz="1000" dirty="0">
                          <a:solidFill>
                            <a:srgbClr val="1F1B2E"/>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ctr">
                    <a:lnL w="9525" cap="flat" cmpd="sng" algn="ctr">
                      <a:solidFill>
                        <a:srgbClr val="DDD6FE"/>
                      </a:solidFill>
                      <a:prstDash val="solid"/>
                      <a:round/>
                      <a:headEnd type="none" w="med" len="med"/>
                      <a:tailEnd type="none" w="med" len="med"/>
                    </a:lnL>
                    <a:lnR w="9525" cap="flat" cmpd="sng" algn="ctr">
                      <a:solidFill>
                        <a:srgbClr val="DDD6FE"/>
                      </a:solidFill>
                      <a:prstDash val="solid"/>
                      <a:round/>
                      <a:headEnd type="none" w="med" len="med"/>
                      <a:tailEnd type="none" w="med" len="med"/>
                    </a:lnR>
                    <a:lnT w="9525" cap="flat" cmpd="sng" algn="ctr">
                      <a:solidFill>
                        <a:srgbClr val="DDD6FE"/>
                      </a:solidFill>
                      <a:prstDash val="solid"/>
                      <a:round/>
                      <a:headEnd type="none" w="med" len="med"/>
                      <a:tailEnd type="none" w="med" len="med"/>
                    </a:lnT>
                    <a:lnB w="9525" cap="flat" cmpd="sng" algn="ctr">
                      <a:solidFill>
                        <a:srgbClr val="DDD6FE"/>
                      </a:solidFill>
                      <a:prstDash val="solid"/>
                      <a:round/>
                      <a:headEnd type="none" w="med" len="med"/>
                      <a:tailEnd type="none" w="med" len="med"/>
                    </a:lnB>
                    <a:solidFill>
                      <a:srgbClr val="FFFFFF"/>
                    </a:solidFill>
                  </a:tcPr>
                </a:tc>
                <a:tc>
                  <a:txBody>
                    <a:bodyPr/>
                    <a:lstStyle/>
                    <a:p>
                      <a:pPr indent="0" marL="0">
                        <a:buNone/>
                      </a:pPr>
                      <a:r>
                        <a:rPr lang="en-US" sz="1000" dirty="0">
                          <a:solidFill>
                            <a:srgbClr val="1F1B2E"/>
                          </a:solidFill>
                          <a:latin typeface="Calibri" pitchFamily="34" charset="0"/>
                          <a:ea typeface="Calibri" pitchFamily="34" charset="-122"/>
                          <a:cs typeface="Calibri" pitchFamily="34" charset="-120"/>
                        </a:rPr>
                        <a:t>Russell &amp; Norvig, Artificial Intelligence: A Modern Approach (CSP chapter)</a:t>
                      </a:r>
                      <a:endParaRPr lang="en-US" sz="1000" dirty="0">
                        <a:latin typeface="Calibri" charset="0"/>
                        <a:ea typeface="Calibri" charset="0"/>
                        <a:cs typeface="Calibri" charset="0"/>
                      </a:endParaRPr>
                    </a:p>
                  </a:txBody>
                  <a:tcPr marL="91440" marR="91440" marT="45720" marB="45720" anchor="ctr">
                    <a:lnL w="9525" cap="flat" cmpd="sng" algn="ctr">
                      <a:solidFill>
                        <a:srgbClr val="DDD6FE"/>
                      </a:solidFill>
                      <a:prstDash val="solid"/>
                      <a:round/>
                      <a:headEnd type="none" w="med" len="med"/>
                      <a:tailEnd type="none" w="med" len="med"/>
                    </a:lnL>
                    <a:lnR w="9525" cap="flat" cmpd="sng" algn="ctr">
                      <a:solidFill>
                        <a:srgbClr val="DDD6FE"/>
                      </a:solidFill>
                      <a:prstDash val="solid"/>
                      <a:round/>
                      <a:headEnd type="none" w="med" len="med"/>
                      <a:tailEnd type="none" w="med" len="med"/>
                    </a:lnR>
                    <a:lnT w="9525" cap="flat" cmpd="sng" algn="ctr">
                      <a:solidFill>
                        <a:srgbClr val="DDD6FE"/>
                      </a:solidFill>
                      <a:prstDash val="solid"/>
                      <a:round/>
                      <a:headEnd type="none" w="med" len="med"/>
                      <a:tailEnd type="none" w="med" len="med"/>
                    </a:lnT>
                    <a:lnB w="9525" cap="flat" cmpd="sng" algn="ctr">
                      <a:solidFill>
                        <a:srgbClr val="DDD6FE"/>
                      </a:solidFill>
                      <a:prstDash val="solid"/>
                      <a:round/>
                      <a:headEnd type="none" w="med" len="med"/>
                      <a:tailEnd type="none" w="med" len="med"/>
                    </a:lnB>
                    <a:solidFill>
                      <a:srgbClr val="FFFFFF"/>
                    </a:solidFill>
                  </a:tcPr>
                </a:tc>
                <a:tc>
                  <a:txBody>
                    <a:bodyPr/>
                    <a:lstStyle/>
                    <a:p>
                      <a:pPr indent="0" marL="0">
                        <a:buNone/>
                      </a:pPr>
                      <a:r>
                        <a:rPr lang="en-US" sz="1000" dirty="0">
                          <a:solidFill>
                            <a:srgbClr val="1F1B2E"/>
                          </a:solidFill>
                          <a:latin typeface="Calibri" pitchFamily="34" charset="0"/>
                          <a:ea typeface="Calibri" pitchFamily="34" charset="-122"/>
                          <a:cs typeface="Calibri" pitchFamily="34" charset="-120"/>
                        </a:rPr>
                        <a:t>Formalises CSPs, backtracking search and heuristics</a:t>
                      </a:r>
                      <a:endParaRPr lang="en-US" sz="1000" dirty="0">
                        <a:latin typeface="Calibri" charset="0"/>
                        <a:ea typeface="Calibri" charset="0"/>
                        <a:cs typeface="Calibri" charset="0"/>
                      </a:endParaRPr>
                    </a:p>
                  </a:txBody>
                  <a:tcPr marL="91440" marR="91440" marT="45720" marB="45720" anchor="ctr">
                    <a:lnL w="9525" cap="flat" cmpd="sng" algn="ctr">
                      <a:solidFill>
                        <a:srgbClr val="DDD6FE"/>
                      </a:solidFill>
                      <a:prstDash val="solid"/>
                      <a:round/>
                      <a:headEnd type="none" w="med" len="med"/>
                      <a:tailEnd type="none" w="med" len="med"/>
                    </a:lnL>
                    <a:lnR w="9525" cap="flat" cmpd="sng" algn="ctr">
                      <a:solidFill>
                        <a:srgbClr val="DDD6FE"/>
                      </a:solidFill>
                      <a:prstDash val="solid"/>
                      <a:round/>
                      <a:headEnd type="none" w="med" len="med"/>
                      <a:tailEnd type="none" w="med" len="med"/>
                    </a:lnR>
                    <a:lnT w="9525" cap="flat" cmpd="sng" algn="ctr">
                      <a:solidFill>
                        <a:srgbClr val="DDD6FE"/>
                      </a:solidFill>
                      <a:prstDash val="solid"/>
                      <a:round/>
                      <a:headEnd type="none" w="med" len="med"/>
                      <a:tailEnd type="none" w="med" len="med"/>
                    </a:lnT>
                    <a:lnB w="9525" cap="flat" cmpd="sng" algn="ctr">
                      <a:solidFill>
                        <a:srgbClr val="DDD6FE"/>
                      </a:solidFill>
                      <a:prstDash val="solid"/>
                      <a:round/>
                      <a:headEnd type="none" w="med" len="med"/>
                      <a:tailEnd type="none" w="med" len="med"/>
                    </a:lnB>
                    <a:solidFill>
                      <a:srgbClr val="FFFFFF"/>
                    </a:solidFill>
                  </a:tcPr>
                </a:tc>
                <a:tc>
                  <a:txBody>
                    <a:bodyPr/>
                    <a:lstStyle/>
                    <a:p>
                      <a:pPr indent="0" marL="0">
                        <a:buNone/>
                      </a:pPr>
                      <a:r>
                        <a:rPr lang="en-US" sz="1000" dirty="0">
                          <a:solidFill>
                            <a:srgbClr val="1F1B2E"/>
                          </a:solidFill>
                          <a:latin typeface="Calibri" pitchFamily="34" charset="0"/>
                          <a:ea typeface="Calibri" pitchFamily="34" charset="-122"/>
                          <a:cs typeface="Calibri" pitchFamily="34" charset="-120"/>
                        </a:rPr>
                        <a:t>Theoretical basis of our puzzle solver</a:t>
                      </a:r>
                      <a:endParaRPr lang="en-US" sz="1000" dirty="0">
                        <a:latin typeface="Calibri" charset="0"/>
                        <a:ea typeface="Calibri" charset="0"/>
                        <a:cs typeface="Calibri" charset="0"/>
                      </a:endParaRPr>
                    </a:p>
                  </a:txBody>
                  <a:tcPr marL="91440" marR="91440" marT="45720" marB="45720" anchor="ctr">
                    <a:lnL w="9525" cap="flat" cmpd="sng" algn="ctr">
                      <a:solidFill>
                        <a:srgbClr val="DDD6FE"/>
                      </a:solidFill>
                      <a:prstDash val="solid"/>
                      <a:round/>
                      <a:headEnd type="none" w="med" len="med"/>
                      <a:tailEnd type="none" w="med" len="med"/>
                    </a:lnL>
                    <a:lnR w="9525" cap="flat" cmpd="sng" algn="ctr">
                      <a:solidFill>
                        <a:srgbClr val="DDD6FE"/>
                      </a:solidFill>
                      <a:prstDash val="solid"/>
                      <a:round/>
                      <a:headEnd type="none" w="med" len="med"/>
                      <a:tailEnd type="none" w="med" len="med"/>
                    </a:lnR>
                    <a:lnT w="9525" cap="flat" cmpd="sng" algn="ctr">
                      <a:solidFill>
                        <a:srgbClr val="DDD6FE"/>
                      </a:solidFill>
                      <a:prstDash val="solid"/>
                      <a:round/>
                      <a:headEnd type="none" w="med" len="med"/>
                      <a:tailEnd type="none" w="med" len="med"/>
                    </a:lnT>
                    <a:lnB w="9525" cap="flat" cmpd="sng" algn="ctr">
                      <a:solidFill>
                        <a:srgbClr val="DDD6FE"/>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1F1B2E"/>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nchor="ctr">
                    <a:lnL w="9525" cap="flat" cmpd="sng" algn="ctr">
                      <a:solidFill>
                        <a:srgbClr val="DDD6FE"/>
                      </a:solidFill>
                      <a:prstDash val="solid"/>
                      <a:round/>
                      <a:headEnd type="none" w="med" len="med"/>
                      <a:tailEnd type="none" w="med" len="med"/>
                    </a:lnL>
                    <a:lnR w="9525" cap="flat" cmpd="sng" algn="ctr">
                      <a:solidFill>
                        <a:srgbClr val="DDD6FE"/>
                      </a:solidFill>
                      <a:prstDash val="solid"/>
                      <a:round/>
                      <a:headEnd type="none" w="med" len="med"/>
                      <a:tailEnd type="none" w="med" len="med"/>
                    </a:lnR>
                    <a:lnT w="9525" cap="flat" cmpd="sng" algn="ctr">
                      <a:solidFill>
                        <a:srgbClr val="DDD6FE"/>
                      </a:solidFill>
                      <a:prstDash val="solid"/>
                      <a:round/>
                      <a:headEnd type="none" w="med" len="med"/>
                      <a:tailEnd type="none" w="med" len="med"/>
                    </a:lnT>
                    <a:lnB w="9525" cap="flat" cmpd="sng" algn="ctr">
                      <a:solidFill>
                        <a:srgbClr val="DDD6FE"/>
                      </a:solidFill>
                      <a:prstDash val="solid"/>
                      <a:round/>
                      <a:headEnd type="none" w="med" len="med"/>
                      <a:tailEnd type="none" w="med" len="med"/>
                    </a:lnB>
                    <a:solidFill>
                      <a:srgbClr val="FFFFFF"/>
                    </a:solidFill>
                  </a:tcPr>
                </a:tc>
                <a:tc>
                  <a:txBody>
                    <a:bodyPr/>
                    <a:lstStyle/>
                    <a:p>
                      <a:pPr indent="0" marL="0">
                        <a:buNone/>
                      </a:pPr>
                      <a:r>
                        <a:rPr lang="en-US" sz="1000" dirty="0">
                          <a:solidFill>
                            <a:srgbClr val="1F1B2E"/>
                          </a:solidFill>
                          <a:latin typeface="Calibri" pitchFamily="34" charset="0"/>
                          <a:ea typeface="Calibri" pitchFamily="34" charset="-122"/>
                          <a:cs typeface="Calibri" pitchFamily="34" charset="-120"/>
                        </a:rPr>
                        <a:t>Mackworth (1977), Consistency in Networks of Relations, Artificial Intelligence 8(1)</a:t>
                      </a:r>
                      <a:endParaRPr lang="en-US" sz="1000" dirty="0">
                        <a:latin typeface="Calibri" charset="0"/>
                        <a:ea typeface="Calibri" charset="0"/>
                        <a:cs typeface="Calibri" charset="0"/>
                      </a:endParaRPr>
                    </a:p>
                  </a:txBody>
                  <a:tcPr marL="91440" marR="91440" marT="45720" marB="45720" anchor="ctr">
                    <a:lnL w="9525" cap="flat" cmpd="sng" algn="ctr">
                      <a:solidFill>
                        <a:srgbClr val="DDD6FE"/>
                      </a:solidFill>
                      <a:prstDash val="solid"/>
                      <a:round/>
                      <a:headEnd type="none" w="med" len="med"/>
                      <a:tailEnd type="none" w="med" len="med"/>
                    </a:lnL>
                    <a:lnR w="9525" cap="flat" cmpd="sng" algn="ctr">
                      <a:solidFill>
                        <a:srgbClr val="DDD6FE"/>
                      </a:solidFill>
                      <a:prstDash val="solid"/>
                      <a:round/>
                      <a:headEnd type="none" w="med" len="med"/>
                      <a:tailEnd type="none" w="med" len="med"/>
                    </a:lnR>
                    <a:lnT w="9525" cap="flat" cmpd="sng" algn="ctr">
                      <a:solidFill>
                        <a:srgbClr val="DDD6FE"/>
                      </a:solidFill>
                      <a:prstDash val="solid"/>
                      <a:round/>
                      <a:headEnd type="none" w="med" len="med"/>
                      <a:tailEnd type="none" w="med" len="med"/>
                    </a:lnT>
                    <a:lnB w="9525" cap="flat" cmpd="sng" algn="ctr">
                      <a:solidFill>
                        <a:srgbClr val="DDD6FE"/>
                      </a:solidFill>
                      <a:prstDash val="solid"/>
                      <a:round/>
                      <a:headEnd type="none" w="med" len="med"/>
                      <a:tailEnd type="none" w="med" len="med"/>
                    </a:lnB>
                    <a:solidFill>
                      <a:srgbClr val="FFFFFF"/>
                    </a:solidFill>
                  </a:tcPr>
                </a:tc>
                <a:tc>
                  <a:txBody>
                    <a:bodyPr/>
                    <a:lstStyle/>
                    <a:p>
                      <a:pPr indent="0" marL="0">
                        <a:buNone/>
                      </a:pPr>
                      <a:r>
                        <a:rPr lang="en-US" sz="1000" dirty="0">
                          <a:solidFill>
                            <a:srgbClr val="1F1B2E"/>
                          </a:solidFill>
                          <a:latin typeface="Calibri" pitchFamily="34" charset="0"/>
                          <a:ea typeface="Calibri" pitchFamily="34" charset="-122"/>
                          <a:cs typeface="Calibri" pitchFamily="34" charset="-120"/>
                        </a:rPr>
                        <a:t>Introduces constraint propagation and arc consistency</a:t>
                      </a:r>
                      <a:endParaRPr lang="en-US" sz="1000" dirty="0">
                        <a:latin typeface="Calibri" charset="0"/>
                        <a:ea typeface="Calibri" charset="0"/>
                        <a:cs typeface="Calibri" charset="0"/>
                      </a:endParaRPr>
                    </a:p>
                  </a:txBody>
                  <a:tcPr marL="91440" marR="91440" marT="45720" marB="45720" anchor="ctr">
                    <a:lnL w="9525" cap="flat" cmpd="sng" algn="ctr">
                      <a:solidFill>
                        <a:srgbClr val="DDD6FE"/>
                      </a:solidFill>
                      <a:prstDash val="solid"/>
                      <a:round/>
                      <a:headEnd type="none" w="med" len="med"/>
                      <a:tailEnd type="none" w="med" len="med"/>
                    </a:lnL>
                    <a:lnR w="9525" cap="flat" cmpd="sng" algn="ctr">
                      <a:solidFill>
                        <a:srgbClr val="DDD6FE"/>
                      </a:solidFill>
                      <a:prstDash val="solid"/>
                      <a:round/>
                      <a:headEnd type="none" w="med" len="med"/>
                      <a:tailEnd type="none" w="med" len="med"/>
                    </a:lnR>
                    <a:lnT w="9525" cap="flat" cmpd="sng" algn="ctr">
                      <a:solidFill>
                        <a:srgbClr val="DDD6FE"/>
                      </a:solidFill>
                      <a:prstDash val="solid"/>
                      <a:round/>
                      <a:headEnd type="none" w="med" len="med"/>
                      <a:tailEnd type="none" w="med" len="med"/>
                    </a:lnT>
                    <a:lnB w="9525" cap="flat" cmpd="sng" algn="ctr">
                      <a:solidFill>
                        <a:srgbClr val="DDD6FE"/>
                      </a:solidFill>
                      <a:prstDash val="solid"/>
                      <a:round/>
                      <a:headEnd type="none" w="med" len="med"/>
                      <a:tailEnd type="none" w="med" len="med"/>
                    </a:lnB>
                    <a:solidFill>
                      <a:srgbClr val="FFFFFF"/>
                    </a:solidFill>
                  </a:tcPr>
                </a:tc>
                <a:tc>
                  <a:txBody>
                    <a:bodyPr/>
                    <a:lstStyle/>
                    <a:p>
                      <a:pPr indent="0" marL="0">
                        <a:buNone/>
                      </a:pPr>
                      <a:r>
                        <a:rPr lang="en-US" sz="1000" dirty="0">
                          <a:solidFill>
                            <a:srgbClr val="1F1B2E"/>
                          </a:solidFill>
                          <a:latin typeface="Calibri" pitchFamily="34" charset="0"/>
                          <a:ea typeface="Calibri" pitchFamily="34" charset="-122"/>
                          <a:cs typeface="Calibri" pitchFamily="34" charset="-120"/>
                        </a:rPr>
                        <a:t>Pruning impossible values early</a:t>
                      </a:r>
                      <a:endParaRPr lang="en-US" sz="1000" dirty="0">
                        <a:latin typeface="Calibri" charset="0"/>
                        <a:ea typeface="Calibri" charset="0"/>
                        <a:cs typeface="Calibri" charset="0"/>
                      </a:endParaRPr>
                    </a:p>
                  </a:txBody>
                  <a:tcPr marL="91440" marR="91440" marT="45720" marB="45720" anchor="ctr">
                    <a:lnL w="9525" cap="flat" cmpd="sng" algn="ctr">
                      <a:solidFill>
                        <a:srgbClr val="DDD6FE"/>
                      </a:solidFill>
                      <a:prstDash val="solid"/>
                      <a:round/>
                      <a:headEnd type="none" w="med" len="med"/>
                      <a:tailEnd type="none" w="med" len="med"/>
                    </a:lnL>
                    <a:lnR w="9525" cap="flat" cmpd="sng" algn="ctr">
                      <a:solidFill>
                        <a:srgbClr val="DDD6FE"/>
                      </a:solidFill>
                      <a:prstDash val="solid"/>
                      <a:round/>
                      <a:headEnd type="none" w="med" len="med"/>
                      <a:tailEnd type="none" w="med" len="med"/>
                    </a:lnR>
                    <a:lnT w="9525" cap="flat" cmpd="sng" algn="ctr">
                      <a:solidFill>
                        <a:srgbClr val="DDD6FE"/>
                      </a:solidFill>
                      <a:prstDash val="solid"/>
                      <a:round/>
                      <a:headEnd type="none" w="med" len="med"/>
                      <a:tailEnd type="none" w="med" len="med"/>
                    </a:lnT>
                    <a:lnB w="9525" cap="flat" cmpd="sng" algn="ctr">
                      <a:solidFill>
                        <a:srgbClr val="DDD6FE"/>
                      </a:solidFill>
                      <a:prstDash val="solid"/>
                      <a:round/>
                      <a:headEnd type="none" w="med" len="med"/>
                      <a:tailEnd type="none" w="med" len="med"/>
                    </a:lnB>
                    <a:solidFill>
                      <a:srgbClr val="FFFFFF"/>
                    </a:solidFill>
                  </a:tcPr>
                </a:tc>
              </a:tr>
              <a:tr h="548640">
                <a:tc>
                  <a:txBody>
                    <a:bodyPr/>
                    <a:lstStyle/>
                    <a:p>
                      <a:pPr indent="0" marL="0">
                        <a:buNone/>
                      </a:pPr>
                      <a:r>
                        <a:rPr lang="en-US" sz="1000" dirty="0">
                          <a:solidFill>
                            <a:srgbClr val="1F1B2E"/>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nchor="ctr">
                    <a:lnL w="9525" cap="flat" cmpd="sng" algn="ctr">
                      <a:solidFill>
                        <a:srgbClr val="DDD6FE"/>
                      </a:solidFill>
                      <a:prstDash val="solid"/>
                      <a:round/>
                      <a:headEnd type="none" w="med" len="med"/>
                      <a:tailEnd type="none" w="med" len="med"/>
                    </a:lnL>
                    <a:lnR w="9525" cap="flat" cmpd="sng" algn="ctr">
                      <a:solidFill>
                        <a:srgbClr val="DDD6FE"/>
                      </a:solidFill>
                      <a:prstDash val="solid"/>
                      <a:round/>
                      <a:headEnd type="none" w="med" len="med"/>
                      <a:tailEnd type="none" w="med" len="med"/>
                    </a:lnR>
                    <a:lnT w="9525" cap="flat" cmpd="sng" algn="ctr">
                      <a:solidFill>
                        <a:srgbClr val="DDD6FE"/>
                      </a:solidFill>
                      <a:prstDash val="solid"/>
                      <a:round/>
                      <a:headEnd type="none" w="med" len="med"/>
                      <a:tailEnd type="none" w="med" len="med"/>
                    </a:lnT>
                    <a:lnB w="9525" cap="flat" cmpd="sng" algn="ctr">
                      <a:solidFill>
                        <a:srgbClr val="DDD6FE"/>
                      </a:solidFill>
                      <a:prstDash val="solid"/>
                      <a:round/>
                      <a:headEnd type="none" w="med" len="med"/>
                      <a:tailEnd type="none" w="med" len="med"/>
                    </a:lnB>
                    <a:solidFill>
                      <a:srgbClr val="FFFFFF"/>
                    </a:solidFill>
                  </a:tcPr>
                </a:tc>
                <a:tc>
                  <a:txBody>
                    <a:bodyPr/>
                    <a:lstStyle/>
                    <a:p>
                      <a:pPr indent="0" marL="0">
                        <a:buNone/>
                      </a:pPr>
                      <a:r>
                        <a:rPr lang="en-US" sz="1000" dirty="0">
                          <a:solidFill>
                            <a:srgbClr val="1F1B2E"/>
                          </a:solidFill>
                          <a:latin typeface="Calibri" pitchFamily="34" charset="0"/>
                          <a:ea typeface="Calibri" pitchFamily="34" charset="-122"/>
                          <a:cs typeface="Calibri" pitchFamily="34" charset="-120"/>
                        </a:rPr>
                        <a:t>Haralick &amp; Elliott (1980), Increasing Tree Search Efficiency for CSPs, Artificial Intelligence 14(3)</a:t>
                      </a:r>
                      <a:endParaRPr lang="en-US" sz="1000" dirty="0">
                        <a:latin typeface="Calibri" charset="0"/>
                        <a:ea typeface="Calibri" charset="0"/>
                        <a:cs typeface="Calibri" charset="0"/>
                      </a:endParaRPr>
                    </a:p>
                  </a:txBody>
                  <a:tcPr marL="91440" marR="91440" marT="45720" marB="45720" anchor="ctr">
                    <a:lnL w="9525" cap="flat" cmpd="sng" algn="ctr">
                      <a:solidFill>
                        <a:srgbClr val="DDD6FE"/>
                      </a:solidFill>
                      <a:prstDash val="solid"/>
                      <a:round/>
                      <a:headEnd type="none" w="med" len="med"/>
                      <a:tailEnd type="none" w="med" len="med"/>
                    </a:lnL>
                    <a:lnR w="9525" cap="flat" cmpd="sng" algn="ctr">
                      <a:solidFill>
                        <a:srgbClr val="DDD6FE"/>
                      </a:solidFill>
                      <a:prstDash val="solid"/>
                      <a:round/>
                      <a:headEnd type="none" w="med" len="med"/>
                      <a:tailEnd type="none" w="med" len="med"/>
                    </a:lnR>
                    <a:lnT w="9525" cap="flat" cmpd="sng" algn="ctr">
                      <a:solidFill>
                        <a:srgbClr val="DDD6FE"/>
                      </a:solidFill>
                      <a:prstDash val="solid"/>
                      <a:round/>
                      <a:headEnd type="none" w="med" len="med"/>
                      <a:tailEnd type="none" w="med" len="med"/>
                    </a:lnT>
                    <a:lnB w="9525" cap="flat" cmpd="sng" algn="ctr">
                      <a:solidFill>
                        <a:srgbClr val="DDD6FE"/>
                      </a:solidFill>
                      <a:prstDash val="solid"/>
                      <a:round/>
                      <a:headEnd type="none" w="med" len="med"/>
                      <a:tailEnd type="none" w="med" len="med"/>
                    </a:lnB>
                    <a:solidFill>
                      <a:srgbClr val="FFFFFF"/>
                    </a:solidFill>
                  </a:tcPr>
                </a:tc>
                <a:tc>
                  <a:txBody>
                    <a:bodyPr/>
                    <a:lstStyle/>
                    <a:p>
                      <a:pPr indent="0" marL="0">
                        <a:buNone/>
                      </a:pPr>
                      <a:r>
                        <a:rPr lang="en-US" sz="1000" dirty="0">
                          <a:solidFill>
                            <a:srgbClr val="1F1B2E"/>
                          </a:solidFill>
                          <a:latin typeface="Calibri" pitchFamily="34" charset="0"/>
                          <a:ea typeface="Calibri" pitchFamily="34" charset="-122"/>
                          <a:cs typeface="Calibri" pitchFamily="34" charset="-120"/>
                        </a:rPr>
                        <a:t>Forward checking and fail-first ordering</a:t>
                      </a:r>
                      <a:endParaRPr lang="en-US" sz="1000" dirty="0">
                        <a:latin typeface="Calibri" charset="0"/>
                        <a:ea typeface="Calibri" charset="0"/>
                        <a:cs typeface="Calibri" charset="0"/>
                      </a:endParaRPr>
                    </a:p>
                  </a:txBody>
                  <a:tcPr marL="91440" marR="91440" marT="45720" marB="45720" anchor="ctr">
                    <a:lnL w="9525" cap="flat" cmpd="sng" algn="ctr">
                      <a:solidFill>
                        <a:srgbClr val="DDD6FE"/>
                      </a:solidFill>
                      <a:prstDash val="solid"/>
                      <a:round/>
                      <a:headEnd type="none" w="med" len="med"/>
                      <a:tailEnd type="none" w="med" len="med"/>
                    </a:lnL>
                    <a:lnR w="9525" cap="flat" cmpd="sng" algn="ctr">
                      <a:solidFill>
                        <a:srgbClr val="DDD6FE"/>
                      </a:solidFill>
                      <a:prstDash val="solid"/>
                      <a:round/>
                      <a:headEnd type="none" w="med" len="med"/>
                      <a:tailEnd type="none" w="med" len="med"/>
                    </a:lnR>
                    <a:lnT w="9525" cap="flat" cmpd="sng" algn="ctr">
                      <a:solidFill>
                        <a:srgbClr val="DDD6FE"/>
                      </a:solidFill>
                      <a:prstDash val="solid"/>
                      <a:round/>
                      <a:headEnd type="none" w="med" len="med"/>
                      <a:tailEnd type="none" w="med" len="med"/>
                    </a:lnT>
                    <a:lnB w="9525" cap="flat" cmpd="sng" algn="ctr">
                      <a:solidFill>
                        <a:srgbClr val="DDD6FE"/>
                      </a:solidFill>
                      <a:prstDash val="solid"/>
                      <a:round/>
                      <a:headEnd type="none" w="med" len="med"/>
                      <a:tailEnd type="none" w="med" len="med"/>
                    </a:lnB>
                    <a:solidFill>
                      <a:srgbClr val="FFFFFF"/>
                    </a:solidFill>
                  </a:tcPr>
                </a:tc>
                <a:tc>
                  <a:txBody>
                    <a:bodyPr/>
                    <a:lstStyle/>
                    <a:p>
                      <a:pPr indent="0" marL="0">
                        <a:buNone/>
                      </a:pPr>
                      <a:r>
                        <a:rPr lang="en-US" sz="1000" dirty="0">
                          <a:solidFill>
                            <a:srgbClr val="1F1B2E"/>
                          </a:solidFill>
                          <a:latin typeface="Calibri" pitchFamily="34" charset="0"/>
                          <a:ea typeface="Calibri" pitchFamily="34" charset="-122"/>
                          <a:cs typeface="Calibri" pitchFamily="34" charset="-120"/>
                        </a:rPr>
                        <a:t>Fewer backtracks and constraint checks</a:t>
                      </a:r>
                      <a:endParaRPr lang="en-US" sz="1000" dirty="0">
                        <a:latin typeface="Calibri" charset="0"/>
                        <a:ea typeface="Calibri" charset="0"/>
                        <a:cs typeface="Calibri" charset="0"/>
                      </a:endParaRPr>
                    </a:p>
                  </a:txBody>
                  <a:tcPr marL="91440" marR="91440" marT="45720" marB="45720" anchor="ctr">
                    <a:lnL w="9525" cap="flat" cmpd="sng" algn="ctr">
                      <a:solidFill>
                        <a:srgbClr val="DDD6FE"/>
                      </a:solidFill>
                      <a:prstDash val="solid"/>
                      <a:round/>
                      <a:headEnd type="none" w="med" len="med"/>
                      <a:tailEnd type="none" w="med" len="med"/>
                    </a:lnL>
                    <a:lnR w="9525" cap="flat" cmpd="sng" algn="ctr">
                      <a:solidFill>
                        <a:srgbClr val="DDD6FE"/>
                      </a:solidFill>
                      <a:prstDash val="solid"/>
                      <a:round/>
                      <a:headEnd type="none" w="med" len="med"/>
                      <a:tailEnd type="none" w="med" len="med"/>
                    </a:lnR>
                    <a:lnT w="9525" cap="flat" cmpd="sng" algn="ctr">
                      <a:solidFill>
                        <a:srgbClr val="DDD6FE"/>
                      </a:solidFill>
                      <a:prstDash val="solid"/>
                      <a:round/>
                      <a:headEnd type="none" w="med" len="med"/>
                      <a:tailEnd type="none" w="med" len="med"/>
                    </a:lnT>
                    <a:lnB w="9525" cap="flat" cmpd="sng" algn="ctr">
                      <a:solidFill>
                        <a:srgbClr val="DDD6FE"/>
                      </a:solidFill>
                      <a:prstDash val="solid"/>
                      <a:round/>
                      <a:headEnd type="none" w="med" len="med"/>
                      <a:tailEnd type="none" w="med" len="med"/>
                    </a:lnB>
                    <a:solidFill>
                      <a:srgbClr val="FFFFFF"/>
                    </a:solidFill>
                  </a:tcPr>
                </a:tc>
              </a:tr>
              <a:tr h="457200">
                <a:tc>
                  <a:txBody>
                    <a:bodyPr/>
                    <a:lstStyle/>
                    <a:p>
                      <a:pPr indent="0" marL="0">
                        <a:buNone/>
                      </a:pPr>
                      <a:r>
                        <a:rPr lang="en-US" sz="1000" dirty="0">
                          <a:solidFill>
                            <a:srgbClr val="1F1B2E"/>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91440" marR="91440" marT="45720" marB="45720" anchor="ctr">
                    <a:lnL w="9525" cap="flat" cmpd="sng" algn="ctr">
                      <a:solidFill>
                        <a:srgbClr val="DDD6FE"/>
                      </a:solidFill>
                      <a:prstDash val="solid"/>
                      <a:round/>
                      <a:headEnd type="none" w="med" len="med"/>
                      <a:tailEnd type="none" w="med" len="med"/>
                    </a:lnL>
                    <a:lnR w="9525" cap="flat" cmpd="sng" algn="ctr">
                      <a:solidFill>
                        <a:srgbClr val="DDD6FE"/>
                      </a:solidFill>
                      <a:prstDash val="solid"/>
                      <a:round/>
                      <a:headEnd type="none" w="med" len="med"/>
                      <a:tailEnd type="none" w="med" len="med"/>
                    </a:lnR>
                    <a:lnT w="9525" cap="flat" cmpd="sng" algn="ctr">
                      <a:solidFill>
                        <a:srgbClr val="DDD6FE"/>
                      </a:solidFill>
                      <a:prstDash val="solid"/>
                      <a:round/>
                      <a:headEnd type="none" w="med" len="med"/>
                      <a:tailEnd type="none" w="med" len="med"/>
                    </a:lnT>
                    <a:lnB w="9525" cap="flat" cmpd="sng" algn="ctr">
                      <a:solidFill>
                        <a:srgbClr val="DDD6FE"/>
                      </a:solidFill>
                      <a:prstDash val="solid"/>
                      <a:round/>
                      <a:headEnd type="none" w="med" len="med"/>
                      <a:tailEnd type="none" w="med" len="med"/>
                    </a:lnB>
                    <a:solidFill>
                      <a:srgbClr val="FFFFFF"/>
                    </a:solidFill>
                  </a:tcPr>
                </a:tc>
                <a:tc>
                  <a:txBody>
                    <a:bodyPr/>
                    <a:lstStyle/>
                    <a:p>
                      <a:pPr indent="0" marL="0">
                        <a:buNone/>
                      </a:pPr>
                      <a:r>
                        <a:rPr lang="en-US" sz="1000" dirty="0">
                          <a:solidFill>
                            <a:srgbClr val="1F1B2E"/>
                          </a:solidFill>
                          <a:latin typeface="Calibri" pitchFamily="34" charset="0"/>
                          <a:ea typeface="Calibri" pitchFamily="34" charset="-122"/>
                          <a:cs typeface="Calibri" pitchFamily="34" charset="-120"/>
                        </a:rPr>
                        <a:t>Dechter (2003), Constraint Processing, Morgan Kaufmann</a:t>
                      </a:r>
                      <a:endParaRPr lang="en-US" sz="1000" dirty="0">
                        <a:latin typeface="Calibri" charset="0"/>
                        <a:ea typeface="Calibri" charset="0"/>
                        <a:cs typeface="Calibri" charset="0"/>
                      </a:endParaRPr>
                    </a:p>
                  </a:txBody>
                  <a:tcPr marL="91440" marR="91440" marT="45720" marB="45720" anchor="ctr">
                    <a:lnL w="9525" cap="flat" cmpd="sng" algn="ctr">
                      <a:solidFill>
                        <a:srgbClr val="DDD6FE"/>
                      </a:solidFill>
                      <a:prstDash val="solid"/>
                      <a:round/>
                      <a:headEnd type="none" w="med" len="med"/>
                      <a:tailEnd type="none" w="med" len="med"/>
                    </a:lnL>
                    <a:lnR w="9525" cap="flat" cmpd="sng" algn="ctr">
                      <a:solidFill>
                        <a:srgbClr val="DDD6FE"/>
                      </a:solidFill>
                      <a:prstDash val="solid"/>
                      <a:round/>
                      <a:headEnd type="none" w="med" len="med"/>
                      <a:tailEnd type="none" w="med" len="med"/>
                    </a:lnR>
                    <a:lnT w="9525" cap="flat" cmpd="sng" algn="ctr">
                      <a:solidFill>
                        <a:srgbClr val="DDD6FE"/>
                      </a:solidFill>
                      <a:prstDash val="solid"/>
                      <a:round/>
                      <a:headEnd type="none" w="med" len="med"/>
                      <a:tailEnd type="none" w="med" len="med"/>
                    </a:lnT>
                    <a:lnB w="9525" cap="flat" cmpd="sng" algn="ctr">
                      <a:solidFill>
                        <a:srgbClr val="DDD6FE"/>
                      </a:solidFill>
                      <a:prstDash val="solid"/>
                      <a:round/>
                      <a:headEnd type="none" w="med" len="med"/>
                      <a:tailEnd type="none" w="med" len="med"/>
                    </a:lnB>
                    <a:solidFill>
                      <a:srgbClr val="FFFFFF"/>
                    </a:solidFill>
                  </a:tcPr>
                </a:tc>
                <a:tc>
                  <a:txBody>
                    <a:bodyPr/>
                    <a:lstStyle/>
                    <a:p>
                      <a:pPr indent="0" marL="0">
                        <a:buNone/>
                      </a:pPr>
                      <a:r>
                        <a:rPr lang="en-US" sz="1000" dirty="0">
                          <a:solidFill>
                            <a:srgbClr val="1F1B2E"/>
                          </a:solidFill>
                          <a:latin typeface="Calibri" pitchFamily="34" charset="0"/>
                          <a:ea typeface="Calibri" pitchFamily="34" charset="-122"/>
                          <a:cs typeface="Calibri" pitchFamily="34" charset="-120"/>
                        </a:rPr>
                        <a:t>Complete treatment of constraint networks and search</a:t>
                      </a:r>
                      <a:endParaRPr lang="en-US" sz="1000" dirty="0">
                        <a:latin typeface="Calibri" charset="0"/>
                        <a:ea typeface="Calibri" charset="0"/>
                        <a:cs typeface="Calibri" charset="0"/>
                      </a:endParaRPr>
                    </a:p>
                  </a:txBody>
                  <a:tcPr marL="91440" marR="91440" marT="45720" marB="45720" anchor="ctr">
                    <a:lnL w="9525" cap="flat" cmpd="sng" algn="ctr">
                      <a:solidFill>
                        <a:srgbClr val="DDD6FE"/>
                      </a:solidFill>
                      <a:prstDash val="solid"/>
                      <a:round/>
                      <a:headEnd type="none" w="med" len="med"/>
                      <a:tailEnd type="none" w="med" len="med"/>
                    </a:lnL>
                    <a:lnR w="9525" cap="flat" cmpd="sng" algn="ctr">
                      <a:solidFill>
                        <a:srgbClr val="DDD6FE"/>
                      </a:solidFill>
                      <a:prstDash val="solid"/>
                      <a:round/>
                      <a:headEnd type="none" w="med" len="med"/>
                      <a:tailEnd type="none" w="med" len="med"/>
                    </a:lnR>
                    <a:lnT w="9525" cap="flat" cmpd="sng" algn="ctr">
                      <a:solidFill>
                        <a:srgbClr val="DDD6FE"/>
                      </a:solidFill>
                      <a:prstDash val="solid"/>
                      <a:round/>
                      <a:headEnd type="none" w="med" len="med"/>
                      <a:tailEnd type="none" w="med" len="med"/>
                    </a:lnT>
                    <a:lnB w="9525" cap="flat" cmpd="sng" algn="ctr">
                      <a:solidFill>
                        <a:srgbClr val="DDD6FE"/>
                      </a:solidFill>
                      <a:prstDash val="solid"/>
                      <a:round/>
                      <a:headEnd type="none" w="med" len="med"/>
                      <a:tailEnd type="none" w="med" len="med"/>
                    </a:lnB>
                    <a:solidFill>
                      <a:srgbClr val="FFFFFF"/>
                    </a:solidFill>
                  </a:tcPr>
                </a:tc>
                <a:tc>
                  <a:txBody>
                    <a:bodyPr/>
                    <a:lstStyle/>
                    <a:p>
                      <a:pPr indent="0" marL="0">
                        <a:buNone/>
                      </a:pPr>
                      <a:r>
                        <a:rPr lang="en-US" sz="1000" dirty="0">
                          <a:solidFill>
                            <a:srgbClr val="1F1B2E"/>
                          </a:solidFill>
                          <a:latin typeface="Calibri" pitchFamily="34" charset="0"/>
                          <a:ea typeface="Calibri" pitchFamily="34" charset="-122"/>
                          <a:cs typeface="Calibri" pitchFamily="34" charset="-120"/>
                        </a:rPr>
                        <a:t>Modelling order and digit constraints</a:t>
                      </a:r>
                      <a:endParaRPr lang="en-US" sz="1000" dirty="0">
                        <a:latin typeface="Calibri" charset="0"/>
                        <a:ea typeface="Calibri" charset="0"/>
                        <a:cs typeface="Calibri" charset="0"/>
                      </a:endParaRPr>
                    </a:p>
                  </a:txBody>
                  <a:tcPr marL="91440" marR="91440" marT="45720" marB="45720" anchor="ctr">
                    <a:lnL w="9525" cap="flat" cmpd="sng" algn="ctr">
                      <a:solidFill>
                        <a:srgbClr val="DDD6FE"/>
                      </a:solidFill>
                      <a:prstDash val="solid"/>
                      <a:round/>
                      <a:headEnd type="none" w="med" len="med"/>
                      <a:tailEnd type="none" w="med" len="med"/>
                    </a:lnL>
                    <a:lnR w="9525" cap="flat" cmpd="sng" algn="ctr">
                      <a:solidFill>
                        <a:srgbClr val="DDD6FE"/>
                      </a:solidFill>
                      <a:prstDash val="solid"/>
                      <a:round/>
                      <a:headEnd type="none" w="med" len="med"/>
                      <a:tailEnd type="none" w="med" len="med"/>
                    </a:lnR>
                    <a:lnT w="9525" cap="flat" cmpd="sng" algn="ctr">
                      <a:solidFill>
                        <a:srgbClr val="DDD6FE"/>
                      </a:solidFill>
                      <a:prstDash val="solid"/>
                      <a:round/>
                      <a:headEnd type="none" w="med" len="med"/>
                      <a:tailEnd type="none" w="med" len="med"/>
                    </a:lnT>
                    <a:lnB w="9525" cap="flat" cmpd="sng" algn="ctr">
                      <a:solidFill>
                        <a:srgbClr val="DDD6FE"/>
                      </a:solidFill>
                      <a:prstDash val="solid"/>
                      <a:round/>
                      <a:headEnd type="none" w="med" len="med"/>
                      <a:tailEnd type="none" w="med" len="med"/>
                    </a:lnB>
                    <a:solidFill>
                      <a:srgbClr val="FFFFFF"/>
                    </a:solidFill>
                  </a:tcPr>
                </a:tc>
              </a:tr>
              <a:tr h="457200">
                <a:tc>
                  <a:txBody>
                    <a:bodyPr/>
                    <a:lstStyle/>
                    <a:p>
                      <a:pPr indent="0" marL="0">
                        <a:buNone/>
                      </a:pPr>
                      <a:r>
                        <a:rPr lang="en-US" sz="1000" dirty="0">
                          <a:solidFill>
                            <a:srgbClr val="1F1B2E"/>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91440" marR="91440" marT="45720" marB="45720" anchor="ctr">
                    <a:lnL w="9525" cap="flat" cmpd="sng" algn="ctr">
                      <a:solidFill>
                        <a:srgbClr val="DDD6FE"/>
                      </a:solidFill>
                      <a:prstDash val="solid"/>
                      <a:round/>
                      <a:headEnd type="none" w="med" len="med"/>
                      <a:tailEnd type="none" w="med" len="med"/>
                    </a:lnL>
                    <a:lnR w="9525" cap="flat" cmpd="sng" algn="ctr">
                      <a:solidFill>
                        <a:srgbClr val="DDD6FE"/>
                      </a:solidFill>
                      <a:prstDash val="solid"/>
                      <a:round/>
                      <a:headEnd type="none" w="med" len="med"/>
                      <a:tailEnd type="none" w="med" len="med"/>
                    </a:lnR>
                    <a:lnT w="9525" cap="flat" cmpd="sng" algn="ctr">
                      <a:solidFill>
                        <a:srgbClr val="DDD6FE"/>
                      </a:solidFill>
                      <a:prstDash val="solid"/>
                      <a:round/>
                      <a:headEnd type="none" w="med" len="med"/>
                      <a:tailEnd type="none" w="med" len="med"/>
                    </a:lnT>
                    <a:lnB w="9525" cap="flat" cmpd="sng" algn="ctr">
                      <a:solidFill>
                        <a:srgbClr val="DDD6FE"/>
                      </a:solidFill>
                      <a:prstDash val="solid"/>
                      <a:round/>
                      <a:headEnd type="none" w="med" len="med"/>
                      <a:tailEnd type="none" w="med" len="med"/>
                    </a:lnB>
                    <a:solidFill>
                      <a:srgbClr val="FFFFFF"/>
                    </a:solidFill>
                  </a:tcPr>
                </a:tc>
                <a:tc>
                  <a:txBody>
                    <a:bodyPr/>
                    <a:lstStyle/>
                    <a:p>
                      <a:pPr indent="0" marL="0">
                        <a:buNone/>
                      </a:pPr>
                      <a:r>
                        <a:rPr lang="en-US" sz="1000" dirty="0">
                          <a:solidFill>
                            <a:srgbClr val="1F1B2E"/>
                          </a:solidFill>
                          <a:latin typeface="Calibri" pitchFamily="34" charset="0"/>
                          <a:ea typeface="Calibri" pitchFamily="34" charset="-122"/>
                          <a:cs typeface="Calibri" pitchFamily="34" charset="-120"/>
                        </a:rPr>
                        <a:t>Smullyan (1978), What Is the Name of This Book?</a:t>
                      </a:r>
                      <a:endParaRPr lang="en-US" sz="1000" dirty="0">
                        <a:latin typeface="Calibri" charset="0"/>
                        <a:ea typeface="Calibri" charset="0"/>
                        <a:cs typeface="Calibri" charset="0"/>
                      </a:endParaRPr>
                    </a:p>
                  </a:txBody>
                  <a:tcPr marL="91440" marR="91440" marT="45720" marB="45720" anchor="ctr">
                    <a:lnL w="9525" cap="flat" cmpd="sng" algn="ctr">
                      <a:solidFill>
                        <a:srgbClr val="DDD6FE"/>
                      </a:solidFill>
                      <a:prstDash val="solid"/>
                      <a:round/>
                      <a:headEnd type="none" w="med" len="med"/>
                      <a:tailEnd type="none" w="med" len="med"/>
                    </a:lnL>
                    <a:lnR w="9525" cap="flat" cmpd="sng" algn="ctr">
                      <a:solidFill>
                        <a:srgbClr val="DDD6FE"/>
                      </a:solidFill>
                      <a:prstDash val="solid"/>
                      <a:round/>
                      <a:headEnd type="none" w="med" len="med"/>
                      <a:tailEnd type="none" w="med" len="med"/>
                    </a:lnR>
                    <a:lnT w="9525" cap="flat" cmpd="sng" algn="ctr">
                      <a:solidFill>
                        <a:srgbClr val="DDD6FE"/>
                      </a:solidFill>
                      <a:prstDash val="solid"/>
                      <a:round/>
                      <a:headEnd type="none" w="med" len="med"/>
                      <a:tailEnd type="none" w="med" len="med"/>
                    </a:lnT>
                    <a:lnB w="9525" cap="flat" cmpd="sng" algn="ctr">
                      <a:solidFill>
                        <a:srgbClr val="DDD6FE"/>
                      </a:solidFill>
                      <a:prstDash val="solid"/>
                      <a:round/>
                      <a:headEnd type="none" w="med" len="med"/>
                      <a:tailEnd type="none" w="med" len="med"/>
                    </a:lnB>
                    <a:solidFill>
                      <a:srgbClr val="FFFFFF"/>
                    </a:solidFill>
                  </a:tcPr>
                </a:tc>
                <a:tc>
                  <a:txBody>
                    <a:bodyPr/>
                    <a:lstStyle/>
                    <a:p>
                      <a:pPr indent="0" marL="0">
                        <a:buNone/>
                      </a:pPr>
                      <a:r>
                        <a:rPr lang="en-US" sz="1000" dirty="0">
                          <a:solidFill>
                            <a:srgbClr val="1F1B2E"/>
                          </a:solidFill>
                          <a:latin typeface="Calibri" pitchFamily="34" charset="0"/>
                          <a:ea typeface="Calibri" pitchFamily="34" charset="-122"/>
                          <a:cs typeface="Calibri" pitchFamily="34" charset="-120"/>
                        </a:rPr>
                        <a:t>Classic truth-teller / liar logic puzzles</a:t>
                      </a:r>
                      <a:endParaRPr lang="en-US" sz="1000" dirty="0">
                        <a:latin typeface="Calibri" charset="0"/>
                        <a:ea typeface="Calibri" charset="0"/>
                        <a:cs typeface="Calibri" charset="0"/>
                      </a:endParaRPr>
                    </a:p>
                  </a:txBody>
                  <a:tcPr marL="91440" marR="91440" marT="45720" marB="45720" anchor="ctr">
                    <a:lnL w="9525" cap="flat" cmpd="sng" algn="ctr">
                      <a:solidFill>
                        <a:srgbClr val="DDD6FE"/>
                      </a:solidFill>
                      <a:prstDash val="solid"/>
                      <a:round/>
                      <a:headEnd type="none" w="med" len="med"/>
                      <a:tailEnd type="none" w="med" len="med"/>
                    </a:lnL>
                    <a:lnR w="9525" cap="flat" cmpd="sng" algn="ctr">
                      <a:solidFill>
                        <a:srgbClr val="DDD6FE"/>
                      </a:solidFill>
                      <a:prstDash val="solid"/>
                      <a:round/>
                      <a:headEnd type="none" w="med" len="med"/>
                      <a:tailEnd type="none" w="med" len="med"/>
                    </a:lnR>
                    <a:lnT w="9525" cap="flat" cmpd="sng" algn="ctr">
                      <a:solidFill>
                        <a:srgbClr val="DDD6FE"/>
                      </a:solidFill>
                      <a:prstDash val="solid"/>
                      <a:round/>
                      <a:headEnd type="none" w="med" len="med"/>
                      <a:tailEnd type="none" w="med" len="med"/>
                    </a:lnT>
                    <a:lnB w="9525" cap="flat" cmpd="sng" algn="ctr">
                      <a:solidFill>
                        <a:srgbClr val="DDD6FE"/>
                      </a:solidFill>
                      <a:prstDash val="solid"/>
                      <a:round/>
                      <a:headEnd type="none" w="med" len="med"/>
                      <a:tailEnd type="none" w="med" len="med"/>
                    </a:lnB>
                    <a:solidFill>
                      <a:srgbClr val="FFFFFF"/>
                    </a:solidFill>
                  </a:tcPr>
                </a:tc>
                <a:tc>
                  <a:txBody>
                    <a:bodyPr/>
                    <a:lstStyle/>
                    <a:p>
                      <a:pPr indent="0" marL="0">
                        <a:buNone/>
                      </a:pPr>
                      <a:r>
                        <a:rPr lang="en-US" sz="1000" dirty="0">
                          <a:solidFill>
                            <a:srgbClr val="1F1B2E"/>
                          </a:solidFill>
                          <a:latin typeface="Calibri" pitchFamily="34" charset="0"/>
                          <a:ea typeface="Calibri" pitchFamily="34" charset="-122"/>
                          <a:cs typeface="Calibri" pitchFamily="34" charset="-120"/>
                        </a:rPr>
                        <a:t>Basis of the Logic Doors puzzle</a:t>
                      </a:r>
                      <a:endParaRPr lang="en-US" sz="1000" dirty="0">
                        <a:latin typeface="Calibri" charset="0"/>
                        <a:ea typeface="Calibri" charset="0"/>
                        <a:cs typeface="Calibri" charset="0"/>
                      </a:endParaRPr>
                    </a:p>
                  </a:txBody>
                  <a:tcPr marL="91440" marR="91440" marT="45720" marB="45720" anchor="ctr">
                    <a:lnL w="9525" cap="flat" cmpd="sng" algn="ctr">
                      <a:solidFill>
                        <a:srgbClr val="DDD6FE"/>
                      </a:solidFill>
                      <a:prstDash val="solid"/>
                      <a:round/>
                      <a:headEnd type="none" w="med" len="med"/>
                      <a:tailEnd type="none" w="med" len="med"/>
                    </a:lnL>
                    <a:lnR w="9525" cap="flat" cmpd="sng" algn="ctr">
                      <a:solidFill>
                        <a:srgbClr val="DDD6FE"/>
                      </a:solidFill>
                      <a:prstDash val="solid"/>
                      <a:round/>
                      <a:headEnd type="none" w="med" len="med"/>
                      <a:tailEnd type="none" w="med" len="med"/>
                    </a:lnR>
                    <a:lnT w="9525" cap="flat" cmpd="sng" algn="ctr">
                      <a:solidFill>
                        <a:srgbClr val="DDD6FE"/>
                      </a:solidFill>
                      <a:prstDash val="solid"/>
                      <a:round/>
                      <a:headEnd type="none" w="med" len="med"/>
                      <a:tailEnd type="none" w="med" len="med"/>
                    </a:lnT>
                    <a:lnB w="9525" cap="flat" cmpd="sng" algn="ctr">
                      <a:solidFill>
                        <a:srgbClr val="DDD6FE"/>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1F1B2E"/>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nchor="ctr">
                    <a:lnL w="9525" cap="flat" cmpd="sng" algn="ctr">
                      <a:solidFill>
                        <a:srgbClr val="DDD6FE"/>
                      </a:solidFill>
                      <a:prstDash val="solid"/>
                      <a:round/>
                      <a:headEnd type="none" w="med" len="med"/>
                      <a:tailEnd type="none" w="med" len="med"/>
                    </a:lnL>
                    <a:lnR w="9525" cap="flat" cmpd="sng" algn="ctr">
                      <a:solidFill>
                        <a:srgbClr val="DDD6FE"/>
                      </a:solidFill>
                      <a:prstDash val="solid"/>
                      <a:round/>
                      <a:headEnd type="none" w="med" len="med"/>
                      <a:tailEnd type="none" w="med" len="med"/>
                    </a:lnR>
                    <a:lnT w="9525" cap="flat" cmpd="sng" algn="ctr">
                      <a:solidFill>
                        <a:srgbClr val="DDD6FE"/>
                      </a:solidFill>
                      <a:prstDash val="solid"/>
                      <a:round/>
                      <a:headEnd type="none" w="med" len="med"/>
                      <a:tailEnd type="none" w="med" len="med"/>
                    </a:lnT>
                    <a:lnB w="9525" cap="flat" cmpd="sng" algn="ctr">
                      <a:solidFill>
                        <a:srgbClr val="DDD6FE"/>
                      </a:solidFill>
                      <a:prstDash val="solid"/>
                      <a:round/>
                      <a:headEnd type="none" w="med" len="med"/>
                      <a:tailEnd type="none" w="med" len="med"/>
                    </a:lnB>
                    <a:solidFill>
                      <a:srgbClr val="FFFFFF"/>
                    </a:solidFill>
                  </a:tcPr>
                </a:tc>
                <a:tc>
                  <a:txBody>
                    <a:bodyPr/>
                    <a:lstStyle/>
                    <a:p>
                      <a:pPr indent="0" marL="0">
                        <a:buNone/>
                      </a:pPr>
                      <a:r>
                        <a:rPr lang="en-US" sz="1000" dirty="0">
                          <a:solidFill>
                            <a:srgbClr val="1F1B2E"/>
                          </a:solidFill>
                          <a:latin typeface="Calibri" pitchFamily="34" charset="0"/>
                          <a:ea typeface="Calibri" pitchFamily="34" charset="-122"/>
                          <a:cs typeface="Calibri" pitchFamily="34" charset="-120"/>
                        </a:rPr>
                        <a:t>Hunicke (2005), The Case for Dynamic Difficulty Adjustment in Games, ACM ACE</a:t>
                      </a:r>
                      <a:endParaRPr lang="en-US" sz="1000" dirty="0">
                        <a:latin typeface="Calibri" charset="0"/>
                        <a:ea typeface="Calibri" charset="0"/>
                        <a:cs typeface="Calibri" charset="0"/>
                      </a:endParaRPr>
                    </a:p>
                  </a:txBody>
                  <a:tcPr marL="91440" marR="91440" marT="45720" marB="45720" anchor="ctr">
                    <a:lnL w="9525" cap="flat" cmpd="sng" algn="ctr">
                      <a:solidFill>
                        <a:srgbClr val="DDD6FE"/>
                      </a:solidFill>
                      <a:prstDash val="solid"/>
                      <a:round/>
                      <a:headEnd type="none" w="med" len="med"/>
                      <a:tailEnd type="none" w="med" len="med"/>
                    </a:lnL>
                    <a:lnR w="9525" cap="flat" cmpd="sng" algn="ctr">
                      <a:solidFill>
                        <a:srgbClr val="DDD6FE"/>
                      </a:solidFill>
                      <a:prstDash val="solid"/>
                      <a:round/>
                      <a:headEnd type="none" w="med" len="med"/>
                      <a:tailEnd type="none" w="med" len="med"/>
                    </a:lnR>
                    <a:lnT w="9525" cap="flat" cmpd="sng" algn="ctr">
                      <a:solidFill>
                        <a:srgbClr val="DDD6FE"/>
                      </a:solidFill>
                      <a:prstDash val="solid"/>
                      <a:round/>
                      <a:headEnd type="none" w="med" len="med"/>
                      <a:tailEnd type="none" w="med" len="med"/>
                    </a:lnT>
                    <a:lnB w="9525" cap="flat" cmpd="sng" algn="ctr">
                      <a:solidFill>
                        <a:srgbClr val="DDD6FE"/>
                      </a:solidFill>
                      <a:prstDash val="solid"/>
                      <a:round/>
                      <a:headEnd type="none" w="med" len="med"/>
                      <a:tailEnd type="none" w="med" len="med"/>
                    </a:lnB>
                    <a:solidFill>
                      <a:srgbClr val="FFFFFF"/>
                    </a:solidFill>
                  </a:tcPr>
                </a:tc>
                <a:tc>
                  <a:txBody>
                    <a:bodyPr/>
                    <a:lstStyle/>
                    <a:p>
                      <a:pPr indent="0" marL="0">
                        <a:buNone/>
                      </a:pPr>
                      <a:r>
                        <a:rPr lang="en-US" sz="1000" dirty="0">
                          <a:solidFill>
                            <a:srgbClr val="1F1B2E"/>
                          </a:solidFill>
                          <a:latin typeface="Calibri" pitchFamily="34" charset="0"/>
                          <a:ea typeface="Calibri" pitchFamily="34" charset="-122"/>
                          <a:cs typeface="Calibri" pitchFamily="34" charset="-120"/>
                        </a:rPr>
                        <a:t>Adjusts challenge to player performance</a:t>
                      </a:r>
                      <a:endParaRPr lang="en-US" sz="1000" dirty="0">
                        <a:latin typeface="Calibri" charset="0"/>
                        <a:ea typeface="Calibri" charset="0"/>
                        <a:cs typeface="Calibri" charset="0"/>
                      </a:endParaRPr>
                    </a:p>
                  </a:txBody>
                  <a:tcPr marL="91440" marR="91440" marT="45720" marB="45720" anchor="ctr">
                    <a:lnL w="9525" cap="flat" cmpd="sng" algn="ctr">
                      <a:solidFill>
                        <a:srgbClr val="DDD6FE"/>
                      </a:solidFill>
                      <a:prstDash val="solid"/>
                      <a:round/>
                      <a:headEnd type="none" w="med" len="med"/>
                      <a:tailEnd type="none" w="med" len="med"/>
                    </a:lnL>
                    <a:lnR w="9525" cap="flat" cmpd="sng" algn="ctr">
                      <a:solidFill>
                        <a:srgbClr val="DDD6FE"/>
                      </a:solidFill>
                      <a:prstDash val="solid"/>
                      <a:round/>
                      <a:headEnd type="none" w="med" len="med"/>
                      <a:tailEnd type="none" w="med" len="med"/>
                    </a:lnR>
                    <a:lnT w="9525" cap="flat" cmpd="sng" algn="ctr">
                      <a:solidFill>
                        <a:srgbClr val="DDD6FE"/>
                      </a:solidFill>
                      <a:prstDash val="solid"/>
                      <a:round/>
                      <a:headEnd type="none" w="med" len="med"/>
                      <a:tailEnd type="none" w="med" len="med"/>
                    </a:lnT>
                    <a:lnB w="9525" cap="flat" cmpd="sng" algn="ctr">
                      <a:solidFill>
                        <a:srgbClr val="DDD6FE"/>
                      </a:solidFill>
                      <a:prstDash val="solid"/>
                      <a:round/>
                      <a:headEnd type="none" w="med" len="med"/>
                      <a:tailEnd type="none" w="med" len="med"/>
                    </a:lnB>
                    <a:solidFill>
                      <a:srgbClr val="FFFFFF"/>
                    </a:solidFill>
                  </a:tcPr>
                </a:tc>
                <a:tc>
                  <a:txBody>
                    <a:bodyPr/>
                    <a:lstStyle/>
                    <a:p>
                      <a:pPr indent="0" marL="0">
                        <a:buNone/>
                      </a:pPr>
                      <a:r>
                        <a:rPr lang="en-US" sz="1000" dirty="0">
                          <a:solidFill>
                            <a:srgbClr val="1F1B2E"/>
                          </a:solidFill>
                          <a:latin typeface="Calibri" pitchFamily="34" charset="0"/>
                          <a:ea typeface="Calibri" pitchFamily="34" charset="-122"/>
                          <a:cs typeface="Calibri" pitchFamily="34" charset="-120"/>
                        </a:rPr>
                        <a:t>Difficulty drops to EASY when player struggles</a:t>
                      </a:r>
                      <a:endParaRPr lang="en-US" sz="1000" dirty="0">
                        <a:latin typeface="Calibri" charset="0"/>
                        <a:ea typeface="Calibri" charset="0"/>
                        <a:cs typeface="Calibri" charset="0"/>
                      </a:endParaRPr>
                    </a:p>
                  </a:txBody>
                  <a:tcPr marL="91440" marR="91440" marT="45720" marB="45720" anchor="ctr">
                    <a:lnL w="9525" cap="flat" cmpd="sng" algn="ctr">
                      <a:solidFill>
                        <a:srgbClr val="DDD6FE"/>
                      </a:solidFill>
                      <a:prstDash val="solid"/>
                      <a:round/>
                      <a:headEnd type="none" w="med" len="med"/>
                      <a:tailEnd type="none" w="med" len="med"/>
                    </a:lnL>
                    <a:lnR w="9525" cap="flat" cmpd="sng" algn="ctr">
                      <a:solidFill>
                        <a:srgbClr val="DDD6FE"/>
                      </a:solidFill>
                      <a:prstDash val="solid"/>
                      <a:round/>
                      <a:headEnd type="none" w="med" len="med"/>
                      <a:tailEnd type="none" w="med" len="med"/>
                    </a:lnR>
                    <a:lnT w="9525" cap="flat" cmpd="sng" algn="ctr">
                      <a:solidFill>
                        <a:srgbClr val="DDD6FE"/>
                      </a:solidFill>
                      <a:prstDash val="solid"/>
                      <a:round/>
                      <a:headEnd type="none" w="med" len="med"/>
                      <a:tailEnd type="none" w="med" len="med"/>
                    </a:lnT>
                    <a:lnB w="9525" cap="flat" cmpd="sng" algn="ctr">
                      <a:solidFill>
                        <a:srgbClr val="DDD6F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498080" cy="548640"/>
          </a:xfrm>
          <a:prstGeom prst="rect">
            <a:avLst/>
          </a:prstGeom>
          <a:noFill/>
          <a:ln/>
        </p:spPr>
        <p:txBody>
          <a:bodyPr wrap="square" lIns="0" tIns="0" rIns="0" bIns="0" rtlCol="0" anchor="ctr"/>
          <a:lstStyle/>
          <a:p>
            <a:pPr indent="0" marL="0">
              <a:buNone/>
            </a:pPr>
            <a:r>
              <a:rPr lang="en-US" sz="3000" b="1" dirty="0">
                <a:solidFill>
                  <a:srgbClr val="2E1065"/>
                </a:solidFill>
                <a:latin typeface="Cambria" pitchFamily="34" charset="0"/>
                <a:ea typeface="Cambria" pitchFamily="34" charset="-122"/>
                <a:cs typeface="Cambria" pitchFamily="34" charset="-120"/>
              </a:rPr>
              <a:t>System Architecture</a:t>
            </a:r>
            <a:endParaRPr lang="en-US" sz="3000" dirty="0"/>
          </a:p>
        </p:txBody>
      </p:sp>
      <p:sp>
        <p:nvSpPr>
          <p:cNvPr id="3" name="Text 1"/>
          <p:cNvSpPr txBox="1"/>
          <p:nvPr/>
        </p:nvSpPr>
        <p:spPr>
          <a:xfrm>
            <a:off x="457200" y="804672"/>
            <a:ext cx="7498080" cy="274320"/>
          </a:xfrm>
          <a:prstGeom prst="rect">
            <a:avLst/>
          </a:prstGeom>
          <a:noFill/>
          <a:ln/>
        </p:spPr>
        <p:txBody>
          <a:bodyPr wrap="square" lIns="0" tIns="0" rIns="0" bIns="0" rtlCol="0" anchor="ctr"/>
          <a:lstStyle/>
          <a:p>
            <a:pPr indent="0" marL="0">
              <a:buNone/>
            </a:pPr>
            <a:r>
              <a:rPr lang="en-US" sz="1400" dirty="0">
                <a:solidFill>
                  <a:srgbClr val="6B6488"/>
                </a:solidFill>
                <a:latin typeface="Calibri" pitchFamily="34" charset="0"/>
                <a:ea typeface="Calibri" pitchFamily="34" charset="-122"/>
                <a:cs typeface="Calibri" pitchFamily="34" charset="-120"/>
              </a:rPr>
              <a:t>Game interface, AI puzzle engine and adaptive modules</a:t>
            </a:r>
            <a:endParaRPr lang="en-US" sz="1400" dirty="0"/>
          </a:p>
        </p:txBody>
      </p:sp>
      <p:sp>
        <p:nvSpPr>
          <p:cNvPr id="4" name="Shape 2"/>
          <p:cNvSpPr/>
          <p:nvPr/>
        </p:nvSpPr>
        <p:spPr>
          <a:xfrm>
            <a:off x="457200" y="1280160"/>
            <a:ext cx="1737360" cy="2377440"/>
          </a:xfrm>
          <a:prstGeom prst="roundRect">
            <a:avLst>
              <a:gd name="adj" fmla="val 5263"/>
            </a:avLst>
          </a:prstGeom>
          <a:solidFill>
            <a:srgbClr val="F5F3FF"/>
          </a:solidFill>
          <a:ln w="15875">
            <a:solidFill>
              <a:srgbClr val="A78BFA"/>
            </a:solidFill>
            <a:prstDash val="dash"/>
          </a:ln>
        </p:spPr>
      </p:sp>
      <p:sp>
        <p:nvSpPr>
          <p:cNvPr id="5" name="Shape 3"/>
          <p:cNvSpPr/>
          <p:nvPr/>
        </p:nvSpPr>
        <p:spPr>
          <a:xfrm>
            <a:off x="1097280" y="1417320"/>
            <a:ext cx="457200" cy="457200"/>
          </a:xfrm>
          <a:prstGeom prst="ellipse">
            <a:avLst/>
          </a:prstGeom>
          <a:solidFill>
            <a:srgbClr val="6D28D9"/>
          </a:solidFill>
          <a:ln w="12700">
            <a:solidFill>
              <a:srgbClr val="6D28D9"/>
            </a:solidFill>
            <a:prstDash val="solid"/>
          </a:ln>
        </p:spPr>
      </p:sp>
      <p:pic>
        <p:nvPicPr>
          <p:cNvPr id="6" name="Image 0" descr="preencoded.png">    </p:cNvPr>
          <p:cNvPicPr>
            <a:picLocks noChangeAspect="1"/>
          </p:cNvPicPr>
          <p:nvPr/>
        </p:nvPicPr>
        <p:blipFill>
          <a:blip r:embed="rId1"/>
          <a:stretch>
            <a:fillRect/>
          </a:stretch>
        </p:blipFill>
        <p:spPr>
          <a:xfrm>
            <a:off x="1211580" y="1531620"/>
            <a:ext cx="228600" cy="228600"/>
          </a:xfrm>
          <a:prstGeom prst="rect">
            <a:avLst/>
          </a:prstGeom>
        </p:spPr>
      </p:pic>
      <p:sp>
        <p:nvSpPr>
          <p:cNvPr id="7" name="Text 4"/>
          <p:cNvSpPr txBox="1"/>
          <p:nvPr/>
        </p:nvSpPr>
        <p:spPr>
          <a:xfrm>
            <a:off x="457200" y="1920240"/>
            <a:ext cx="1737360" cy="274320"/>
          </a:xfrm>
          <a:prstGeom prst="rect">
            <a:avLst/>
          </a:prstGeom>
          <a:noFill/>
          <a:ln/>
        </p:spPr>
        <p:txBody>
          <a:bodyPr wrap="square" lIns="0" tIns="0" rIns="0" bIns="0" rtlCol="0" anchor="ctr"/>
          <a:lstStyle/>
          <a:p>
            <a:pPr algn="ctr" indent="0" marL="0">
              <a:buNone/>
            </a:pPr>
            <a:r>
              <a:rPr lang="en-US" sz="1400" b="1" dirty="0">
                <a:solidFill>
                  <a:srgbClr val="2E1065"/>
                </a:solidFill>
                <a:latin typeface="Calibri" pitchFamily="34" charset="0"/>
                <a:ea typeface="Calibri" pitchFamily="34" charset="-122"/>
                <a:cs typeface="Calibri" pitchFamily="34" charset="-120"/>
              </a:rPr>
              <a:t>Player</a:t>
            </a:r>
            <a:endParaRPr lang="en-US" sz="1400" dirty="0"/>
          </a:p>
        </p:txBody>
      </p:sp>
      <p:sp>
        <p:nvSpPr>
          <p:cNvPr id="8" name="Text 5"/>
          <p:cNvSpPr txBox="1"/>
          <p:nvPr/>
        </p:nvSpPr>
        <p:spPr>
          <a:xfrm>
            <a:off x="548640" y="2240280"/>
            <a:ext cx="1554480" cy="1371600"/>
          </a:xfrm>
          <a:prstGeom prst="rect">
            <a:avLst/>
          </a:prstGeom>
          <a:noFill/>
          <a:ln/>
        </p:spPr>
        <p:txBody>
          <a:bodyPr wrap="square" lIns="0" tIns="0" rIns="0" bIns="0" rtlCol="0" anchor="t"/>
          <a:lstStyle/>
          <a:p>
            <a:pPr algn="ctr" indent="0" marL="0">
              <a:buNone/>
            </a:pPr>
            <a:r>
              <a:rPr lang="en-US" sz="1100" dirty="0">
                <a:solidFill>
                  <a:srgbClr val="1F1B2E"/>
                </a:solidFill>
                <a:latin typeface="Calibri" pitchFamily="34" charset="0"/>
                <a:ea typeface="Calibri" pitchFamily="34" charset="-122"/>
                <a:cs typeface="Calibri" pitchFamily="34" charset="-120"/>
              </a:rPr>
              <a:t>Game interface</a:t>
            </a:r>
            <a:endParaRPr lang="en-US" sz="1100" dirty="0"/>
          </a:p>
          <a:p>
            <a:pPr algn="ctr" indent="0" marL="0">
              <a:buNone/>
            </a:pPr>
            <a:r>
              <a:rPr lang="en-US" sz="1100" dirty="0">
                <a:solidFill>
                  <a:srgbClr val="1F1B2E"/>
                </a:solidFill>
                <a:latin typeface="Calibri" pitchFamily="34" charset="0"/>
                <a:ea typeface="Calibri" pitchFamily="34" charset="-122"/>
                <a:cs typeface="Calibri" pitchFamily="34" charset="-120"/>
              </a:rPr>
              <a:t>Tabs: Number Lock, Objects, Doors, Final Escape</a:t>
            </a:r>
            <a:endParaRPr lang="en-US" sz="1100" dirty="0"/>
          </a:p>
          <a:p>
            <a:pPr algn="ctr" indent="0" marL="0">
              <a:buNone/>
            </a:pPr>
            <a:r>
              <a:rPr lang="en-US" sz="1100" dirty="0">
                <a:solidFill>
                  <a:srgbClr val="1F1B2E"/>
                </a:solidFill>
                <a:latin typeface="Calibri" pitchFamily="34" charset="0"/>
                <a:ea typeface="Calibri" pitchFamily="34" charset="-122"/>
                <a:cs typeface="Calibri" pitchFamily="34" charset="-120"/>
              </a:rPr>
              <a:t>Inventory and hints</a:t>
            </a:r>
            <a:endParaRPr lang="en-US" sz="1100" dirty="0"/>
          </a:p>
        </p:txBody>
      </p:sp>
      <p:sp>
        <p:nvSpPr>
          <p:cNvPr id="9" name="Shape 6"/>
          <p:cNvSpPr/>
          <p:nvPr/>
        </p:nvSpPr>
        <p:spPr>
          <a:xfrm>
            <a:off x="2834640" y="1280160"/>
            <a:ext cx="2834640" cy="2377440"/>
          </a:xfrm>
          <a:prstGeom prst="roundRect">
            <a:avLst>
              <a:gd name="adj" fmla="val 3846"/>
            </a:avLst>
          </a:prstGeom>
          <a:solidFill>
            <a:srgbClr val="F5F3FF"/>
          </a:solidFill>
          <a:ln w="15875">
            <a:solidFill>
              <a:srgbClr val="A78BFA"/>
            </a:solidFill>
            <a:prstDash val="dash"/>
          </a:ln>
        </p:spPr>
      </p:sp>
      <p:sp>
        <p:nvSpPr>
          <p:cNvPr id="10" name="Text 7"/>
          <p:cNvSpPr txBox="1"/>
          <p:nvPr/>
        </p:nvSpPr>
        <p:spPr>
          <a:xfrm>
            <a:off x="2834640" y="1371600"/>
            <a:ext cx="2834640" cy="320040"/>
          </a:xfrm>
          <a:prstGeom prst="rect">
            <a:avLst/>
          </a:prstGeom>
          <a:noFill/>
          <a:ln/>
        </p:spPr>
        <p:txBody>
          <a:bodyPr wrap="square" lIns="0" tIns="0" rIns="0" bIns="0" rtlCol="0" anchor="ctr"/>
          <a:lstStyle/>
          <a:p>
            <a:pPr algn="ctr" indent="0" marL="0">
              <a:buNone/>
            </a:pPr>
            <a:r>
              <a:rPr lang="en-US" sz="1400" b="1" dirty="0">
                <a:solidFill>
                  <a:srgbClr val="2E1065"/>
                </a:solidFill>
                <a:latin typeface="Calibri" pitchFamily="34" charset="0"/>
                <a:ea typeface="Calibri" pitchFamily="34" charset="-122"/>
                <a:cs typeface="Calibri" pitchFamily="34" charset="-120"/>
              </a:rPr>
              <a:t>Game Controller</a:t>
            </a:r>
            <a:endParaRPr lang="en-US" sz="1400" dirty="0"/>
          </a:p>
        </p:txBody>
      </p:sp>
      <p:sp>
        <p:nvSpPr>
          <p:cNvPr id="11" name="Shape 8"/>
          <p:cNvSpPr/>
          <p:nvPr/>
        </p:nvSpPr>
        <p:spPr>
          <a:xfrm>
            <a:off x="2971800" y="1783080"/>
            <a:ext cx="2560320" cy="530352"/>
          </a:xfrm>
          <a:prstGeom prst="roundRect">
            <a:avLst>
              <a:gd name="adj" fmla="val 13793"/>
            </a:avLst>
          </a:prstGeom>
          <a:solidFill>
            <a:srgbClr val="FFFFFF"/>
          </a:solidFill>
          <a:ln w="12700">
            <a:solidFill>
              <a:srgbClr val="A78BFA"/>
            </a:solidFill>
            <a:prstDash val="solid"/>
          </a:ln>
        </p:spPr>
      </p:sp>
      <p:sp>
        <p:nvSpPr>
          <p:cNvPr id="12" name="Text 9"/>
          <p:cNvSpPr txBox="1"/>
          <p:nvPr/>
        </p:nvSpPr>
        <p:spPr>
          <a:xfrm>
            <a:off x="3063240" y="1783080"/>
            <a:ext cx="2377440" cy="530352"/>
          </a:xfrm>
          <a:prstGeom prst="rect">
            <a:avLst/>
          </a:prstGeom>
          <a:noFill/>
          <a:ln/>
        </p:spPr>
        <p:txBody>
          <a:bodyPr wrap="square" lIns="0" tIns="0" rIns="0" bIns="0" rtlCol="0" anchor="ctr"/>
          <a:lstStyle/>
          <a:p>
            <a:pPr indent="0" marL="0">
              <a:buNone/>
            </a:pPr>
            <a:r>
              <a:rPr lang="en-US" sz="1200" b="1" dirty="0">
                <a:solidFill>
                  <a:srgbClr val="2E1065"/>
                </a:solidFill>
                <a:latin typeface="Calibri" pitchFamily="34" charset="0"/>
                <a:ea typeface="Calibri" pitchFamily="34" charset="-122"/>
                <a:cs typeface="Calibri" pitchFamily="34" charset="-120"/>
              </a:rPr>
              <a:t>Puzzle generators</a:t>
            </a:r>
            <a:endParaRPr lang="en-US" sz="1200" dirty="0"/>
          </a:p>
          <a:p>
            <a:pPr indent="0" marL="0">
              <a:buNone/>
            </a:pPr>
            <a:r>
              <a:rPr lang="en-US" sz="1000" dirty="0">
                <a:solidFill>
                  <a:srgbClr val="6B6488"/>
                </a:solidFill>
                <a:latin typeface="Calibri" pitchFamily="34" charset="0"/>
                <a:ea typeface="Calibri" pitchFamily="34" charset="-122"/>
                <a:cs typeface="Calibri" pitchFamily="34" charset="-120"/>
              </a:rPr>
              <a:t>CSP + backtracking</a:t>
            </a:r>
            <a:endParaRPr lang="en-US" sz="1200" dirty="0"/>
          </a:p>
        </p:txBody>
      </p:sp>
      <p:sp>
        <p:nvSpPr>
          <p:cNvPr id="13" name="Shape 10"/>
          <p:cNvSpPr/>
          <p:nvPr/>
        </p:nvSpPr>
        <p:spPr>
          <a:xfrm>
            <a:off x="2971800" y="2404872"/>
            <a:ext cx="2560320" cy="530352"/>
          </a:xfrm>
          <a:prstGeom prst="roundRect">
            <a:avLst>
              <a:gd name="adj" fmla="val 13793"/>
            </a:avLst>
          </a:prstGeom>
          <a:solidFill>
            <a:srgbClr val="FFFFFF"/>
          </a:solidFill>
          <a:ln w="12700">
            <a:solidFill>
              <a:srgbClr val="A78BFA"/>
            </a:solidFill>
            <a:prstDash val="solid"/>
          </a:ln>
        </p:spPr>
      </p:sp>
      <p:sp>
        <p:nvSpPr>
          <p:cNvPr id="14" name="Text 11"/>
          <p:cNvSpPr txBox="1"/>
          <p:nvPr/>
        </p:nvSpPr>
        <p:spPr>
          <a:xfrm>
            <a:off x="3063240" y="2404872"/>
            <a:ext cx="2377440" cy="530352"/>
          </a:xfrm>
          <a:prstGeom prst="rect">
            <a:avLst/>
          </a:prstGeom>
          <a:noFill/>
          <a:ln/>
        </p:spPr>
        <p:txBody>
          <a:bodyPr wrap="square" lIns="0" tIns="0" rIns="0" bIns="0" rtlCol="0" anchor="ctr"/>
          <a:lstStyle/>
          <a:p>
            <a:pPr indent="0" marL="0">
              <a:buNone/>
            </a:pPr>
            <a:r>
              <a:rPr lang="en-US" sz="1200" b="1" dirty="0">
                <a:solidFill>
                  <a:srgbClr val="2E1065"/>
                </a:solidFill>
                <a:latin typeface="Calibri" pitchFamily="34" charset="0"/>
                <a:ea typeface="Calibri" pitchFamily="34" charset="-122"/>
                <a:cs typeface="Calibri" pitchFamily="34" charset="-120"/>
              </a:rPr>
              <a:t>Answer checker</a:t>
            </a:r>
            <a:endParaRPr lang="en-US" sz="1200" dirty="0"/>
          </a:p>
          <a:p>
            <a:pPr indent="0" marL="0">
              <a:buNone/>
            </a:pPr>
            <a:r>
              <a:rPr lang="en-US" sz="1000" dirty="0">
                <a:solidFill>
                  <a:srgbClr val="6B6488"/>
                </a:solidFill>
                <a:latin typeface="Calibri" pitchFamily="34" charset="0"/>
                <a:ea typeface="Calibri" pitchFamily="34" charset="-122"/>
                <a:cs typeface="Calibri" pitchFamily="34" charset="-120"/>
              </a:rPr>
              <a:t>validates player input</a:t>
            </a:r>
            <a:endParaRPr lang="en-US" sz="1200" dirty="0"/>
          </a:p>
        </p:txBody>
      </p:sp>
      <p:sp>
        <p:nvSpPr>
          <p:cNvPr id="15" name="Shape 12"/>
          <p:cNvSpPr/>
          <p:nvPr/>
        </p:nvSpPr>
        <p:spPr>
          <a:xfrm>
            <a:off x="2971800" y="3026664"/>
            <a:ext cx="2560320" cy="530352"/>
          </a:xfrm>
          <a:prstGeom prst="roundRect">
            <a:avLst>
              <a:gd name="adj" fmla="val 13793"/>
            </a:avLst>
          </a:prstGeom>
          <a:solidFill>
            <a:srgbClr val="FFFFFF"/>
          </a:solidFill>
          <a:ln w="12700">
            <a:solidFill>
              <a:srgbClr val="A78BFA"/>
            </a:solidFill>
            <a:prstDash val="solid"/>
          </a:ln>
        </p:spPr>
      </p:sp>
      <p:sp>
        <p:nvSpPr>
          <p:cNvPr id="16" name="Text 13"/>
          <p:cNvSpPr txBox="1"/>
          <p:nvPr/>
        </p:nvSpPr>
        <p:spPr>
          <a:xfrm>
            <a:off x="3063240" y="3026664"/>
            <a:ext cx="2377440" cy="530352"/>
          </a:xfrm>
          <a:prstGeom prst="rect">
            <a:avLst/>
          </a:prstGeom>
          <a:noFill/>
          <a:ln/>
        </p:spPr>
        <p:txBody>
          <a:bodyPr wrap="square" lIns="0" tIns="0" rIns="0" bIns="0" rtlCol="0" anchor="ctr"/>
          <a:lstStyle/>
          <a:p>
            <a:pPr indent="0" marL="0">
              <a:buNone/>
            </a:pPr>
            <a:r>
              <a:rPr lang="en-US" sz="1200" b="1" dirty="0">
                <a:solidFill>
                  <a:srgbClr val="2E1065"/>
                </a:solidFill>
                <a:latin typeface="Calibri" pitchFamily="34" charset="0"/>
                <a:ea typeface="Calibri" pitchFamily="34" charset="-122"/>
                <a:cs typeface="Calibri" pitchFamily="34" charset="-120"/>
              </a:rPr>
              <a:t>Inventory</a:t>
            </a:r>
            <a:endParaRPr lang="en-US" sz="1200" dirty="0"/>
          </a:p>
          <a:p>
            <a:pPr indent="0" marL="0">
              <a:buNone/>
            </a:pPr>
            <a:r>
              <a:rPr lang="en-US" sz="1000" dirty="0">
                <a:solidFill>
                  <a:srgbClr val="6B6488"/>
                </a:solidFill>
                <a:latin typeface="Calibri" pitchFamily="34" charset="0"/>
                <a:ea typeface="Calibri" pitchFamily="34" charset="-122"/>
                <a:cs typeface="Calibri" pitchFamily="34" charset="-120"/>
              </a:rPr>
              <a:t>stores collected clues</a:t>
            </a:r>
            <a:endParaRPr lang="en-US" sz="1200" dirty="0"/>
          </a:p>
        </p:txBody>
      </p:sp>
      <p:sp>
        <p:nvSpPr>
          <p:cNvPr id="17" name="Shape 14"/>
          <p:cNvSpPr/>
          <p:nvPr/>
        </p:nvSpPr>
        <p:spPr>
          <a:xfrm>
            <a:off x="6309360" y="1280160"/>
            <a:ext cx="2377440" cy="2377440"/>
          </a:xfrm>
          <a:prstGeom prst="roundRect">
            <a:avLst>
              <a:gd name="adj" fmla="val 3846"/>
            </a:avLst>
          </a:prstGeom>
          <a:solidFill>
            <a:srgbClr val="F5F3FF"/>
          </a:solidFill>
          <a:ln w="15875">
            <a:solidFill>
              <a:srgbClr val="A78BFA"/>
            </a:solidFill>
            <a:prstDash val="dash"/>
          </a:ln>
        </p:spPr>
      </p:sp>
      <p:sp>
        <p:nvSpPr>
          <p:cNvPr id="18" name="Text 15"/>
          <p:cNvSpPr txBox="1"/>
          <p:nvPr/>
        </p:nvSpPr>
        <p:spPr>
          <a:xfrm>
            <a:off x="6309360" y="1371600"/>
            <a:ext cx="2377440" cy="320040"/>
          </a:xfrm>
          <a:prstGeom prst="rect">
            <a:avLst/>
          </a:prstGeom>
          <a:noFill/>
          <a:ln/>
        </p:spPr>
        <p:txBody>
          <a:bodyPr wrap="square" lIns="0" tIns="0" rIns="0" bIns="0" rtlCol="0" anchor="ctr"/>
          <a:lstStyle/>
          <a:p>
            <a:pPr algn="ctr" indent="0" marL="0">
              <a:buNone/>
            </a:pPr>
            <a:r>
              <a:rPr lang="en-US" sz="1400" b="1" dirty="0">
                <a:solidFill>
                  <a:srgbClr val="2E1065"/>
                </a:solidFill>
                <a:latin typeface="Calibri" pitchFamily="34" charset="0"/>
                <a:ea typeface="Calibri" pitchFamily="34" charset="-122"/>
                <a:cs typeface="Calibri" pitchFamily="34" charset="-120"/>
              </a:rPr>
              <a:t>AI Services</a:t>
            </a:r>
            <a:endParaRPr lang="en-US" sz="1400" dirty="0"/>
          </a:p>
        </p:txBody>
      </p:sp>
      <p:sp>
        <p:nvSpPr>
          <p:cNvPr id="19" name="Shape 16"/>
          <p:cNvSpPr/>
          <p:nvPr/>
        </p:nvSpPr>
        <p:spPr>
          <a:xfrm>
            <a:off x="6400800" y="1783080"/>
            <a:ext cx="2194560" cy="530352"/>
          </a:xfrm>
          <a:prstGeom prst="roundRect">
            <a:avLst>
              <a:gd name="adj" fmla="val 13793"/>
            </a:avLst>
          </a:prstGeom>
          <a:solidFill>
            <a:srgbClr val="FFFFFF"/>
          </a:solidFill>
          <a:ln w="12700">
            <a:solidFill>
              <a:srgbClr val="A78BFA"/>
            </a:solidFill>
            <a:prstDash val="solid"/>
          </a:ln>
        </p:spPr>
      </p:sp>
      <p:sp>
        <p:nvSpPr>
          <p:cNvPr id="20" name="Text 17"/>
          <p:cNvSpPr txBox="1"/>
          <p:nvPr/>
        </p:nvSpPr>
        <p:spPr>
          <a:xfrm>
            <a:off x="6492240" y="1783080"/>
            <a:ext cx="2011680" cy="530352"/>
          </a:xfrm>
          <a:prstGeom prst="rect">
            <a:avLst/>
          </a:prstGeom>
          <a:noFill/>
          <a:ln/>
        </p:spPr>
        <p:txBody>
          <a:bodyPr wrap="square" lIns="0" tIns="0" rIns="0" bIns="0" rtlCol="0" anchor="ctr"/>
          <a:lstStyle/>
          <a:p>
            <a:pPr indent="0" marL="0">
              <a:buNone/>
            </a:pPr>
            <a:r>
              <a:rPr lang="en-US" sz="1200" b="1" dirty="0">
                <a:solidFill>
                  <a:srgbClr val="2E1065"/>
                </a:solidFill>
                <a:latin typeface="Calibri" pitchFamily="34" charset="0"/>
                <a:ea typeface="Calibri" pitchFamily="34" charset="-122"/>
                <a:cs typeface="Calibri" pitchFamily="34" charset="-120"/>
              </a:rPr>
              <a:t>AI Status panel</a:t>
            </a:r>
            <a:endParaRPr lang="en-US" sz="1200" dirty="0"/>
          </a:p>
          <a:p>
            <a:pPr indent="0" marL="0">
              <a:buNone/>
            </a:pPr>
            <a:r>
              <a:rPr lang="en-US" sz="1000" dirty="0">
                <a:solidFill>
                  <a:srgbClr val="6B6488"/>
                </a:solidFill>
                <a:latin typeface="Calibri" pitchFamily="34" charset="0"/>
                <a:ea typeface="Calibri" pitchFamily="34" charset="-122"/>
                <a:cs typeface="Calibri" pitchFamily="34" charset="-120"/>
              </a:rPr>
              <a:t>backtracks, checks, log</a:t>
            </a:r>
            <a:endParaRPr lang="en-US" sz="1200" dirty="0"/>
          </a:p>
        </p:txBody>
      </p:sp>
      <p:sp>
        <p:nvSpPr>
          <p:cNvPr id="21" name="Shape 18"/>
          <p:cNvSpPr/>
          <p:nvPr/>
        </p:nvSpPr>
        <p:spPr>
          <a:xfrm>
            <a:off x="6400800" y="2404872"/>
            <a:ext cx="2194560" cy="530352"/>
          </a:xfrm>
          <a:prstGeom prst="roundRect">
            <a:avLst>
              <a:gd name="adj" fmla="val 13793"/>
            </a:avLst>
          </a:prstGeom>
          <a:solidFill>
            <a:srgbClr val="FFFFFF"/>
          </a:solidFill>
          <a:ln w="12700">
            <a:solidFill>
              <a:srgbClr val="A78BFA"/>
            </a:solidFill>
            <a:prstDash val="solid"/>
          </a:ln>
        </p:spPr>
      </p:sp>
      <p:sp>
        <p:nvSpPr>
          <p:cNvPr id="22" name="Text 19"/>
          <p:cNvSpPr txBox="1"/>
          <p:nvPr/>
        </p:nvSpPr>
        <p:spPr>
          <a:xfrm>
            <a:off x="6492240" y="2404872"/>
            <a:ext cx="2011680" cy="530352"/>
          </a:xfrm>
          <a:prstGeom prst="rect">
            <a:avLst/>
          </a:prstGeom>
          <a:noFill/>
          <a:ln/>
        </p:spPr>
        <p:txBody>
          <a:bodyPr wrap="square" lIns="0" tIns="0" rIns="0" bIns="0" rtlCol="0" anchor="ctr"/>
          <a:lstStyle/>
          <a:p>
            <a:pPr indent="0" marL="0">
              <a:buNone/>
            </a:pPr>
            <a:r>
              <a:rPr lang="en-US" sz="1200" b="1" dirty="0">
                <a:solidFill>
                  <a:srgbClr val="2E1065"/>
                </a:solidFill>
                <a:latin typeface="Calibri" pitchFamily="34" charset="0"/>
                <a:ea typeface="Calibri" pitchFamily="34" charset="-122"/>
                <a:cs typeface="Calibri" pitchFamily="34" charset="-120"/>
              </a:rPr>
              <a:t>Difficulty adapter</a:t>
            </a:r>
            <a:endParaRPr lang="en-US" sz="1200" dirty="0"/>
          </a:p>
          <a:p>
            <a:pPr indent="0" marL="0">
              <a:buNone/>
            </a:pPr>
            <a:r>
              <a:rPr lang="en-US" sz="1000" dirty="0">
                <a:solidFill>
                  <a:srgbClr val="6B6488"/>
                </a:solidFill>
                <a:latin typeface="Calibri" pitchFamily="34" charset="0"/>
                <a:ea typeface="Calibri" pitchFamily="34" charset="-122"/>
                <a:cs typeface="Calibri" pitchFamily="34" charset="-120"/>
              </a:rPr>
              <a:t>struggle -&gt; EASY</a:t>
            </a:r>
            <a:endParaRPr lang="en-US" sz="1200" dirty="0"/>
          </a:p>
        </p:txBody>
      </p:sp>
      <p:sp>
        <p:nvSpPr>
          <p:cNvPr id="23" name="Shape 20"/>
          <p:cNvSpPr/>
          <p:nvPr/>
        </p:nvSpPr>
        <p:spPr>
          <a:xfrm>
            <a:off x="6400800" y="3026664"/>
            <a:ext cx="2194560" cy="530352"/>
          </a:xfrm>
          <a:prstGeom prst="roundRect">
            <a:avLst>
              <a:gd name="adj" fmla="val 13793"/>
            </a:avLst>
          </a:prstGeom>
          <a:solidFill>
            <a:srgbClr val="FFFFFF"/>
          </a:solidFill>
          <a:ln w="12700">
            <a:solidFill>
              <a:srgbClr val="A78BFA"/>
            </a:solidFill>
            <a:prstDash val="solid"/>
          </a:ln>
        </p:spPr>
      </p:sp>
      <p:sp>
        <p:nvSpPr>
          <p:cNvPr id="24" name="Text 21"/>
          <p:cNvSpPr txBox="1"/>
          <p:nvPr/>
        </p:nvSpPr>
        <p:spPr>
          <a:xfrm>
            <a:off x="6492240" y="3026664"/>
            <a:ext cx="2011680" cy="530352"/>
          </a:xfrm>
          <a:prstGeom prst="rect">
            <a:avLst/>
          </a:prstGeom>
          <a:noFill/>
          <a:ln/>
        </p:spPr>
        <p:txBody>
          <a:bodyPr wrap="square" lIns="0" tIns="0" rIns="0" bIns="0" rtlCol="0" anchor="ctr"/>
          <a:lstStyle/>
          <a:p>
            <a:pPr indent="0" marL="0">
              <a:buNone/>
            </a:pPr>
            <a:r>
              <a:rPr lang="en-US" sz="1200" b="1" dirty="0">
                <a:solidFill>
                  <a:srgbClr val="2E1065"/>
                </a:solidFill>
                <a:latin typeface="Calibri" pitchFamily="34" charset="0"/>
                <a:ea typeface="Calibri" pitchFamily="34" charset="-122"/>
                <a:cs typeface="Calibri" pitchFamily="34" charset="-120"/>
              </a:rPr>
              <a:t>Hint manager</a:t>
            </a:r>
            <a:endParaRPr lang="en-US" sz="1200" dirty="0"/>
          </a:p>
          <a:p>
            <a:pPr indent="0" marL="0">
              <a:buNone/>
            </a:pPr>
            <a:r>
              <a:rPr lang="en-US" sz="1000" dirty="0">
                <a:solidFill>
                  <a:srgbClr val="6B6488"/>
                </a:solidFill>
                <a:latin typeface="Calibri" pitchFamily="34" charset="0"/>
                <a:ea typeface="Calibri" pitchFamily="34" charset="-122"/>
                <a:cs typeface="Calibri" pitchFamily="34" charset="-120"/>
              </a:rPr>
              <a:t>extra hints unlocked</a:t>
            </a:r>
            <a:endParaRPr lang="en-US" sz="1200" dirty="0"/>
          </a:p>
        </p:txBody>
      </p:sp>
      <p:sp>
        <p:nvSpPr>
          <p:cNvPr id="25" name="Text 22"/>
          <p:cNvSpPr txBox="1"/>
          <p:nvPr/>
        </p:nvSpPr>
        <p:spPr>
          <a:xfrm>
            <a:off x="2194560" y="2240280"/>
            <a:ext cx="640080" cy="228600"/>
          </a:xfrm>
          <a:prstGeom prst="rect">
            <a:avLst/>
          </a:prstGeom>
          <a:noFill/>
          <a:ln/>
        </p:spPr>
        <p:txBody>
          <a:bodyPr wrap="square" lIns="0" tIns="0" rIns="0" bIns="0" rtlCol="0" anchor="ctr"/>
          <a:lstStyle/>
          <a:p>
            <a:pPr algn="ctr" indent="0" marL="0">
              <a:buNone/>
            </a:pPr>
            <a:r>
              <a:rPr lang="en-US" sz="1000" dirty="0">
                <a:solidFill>
                  <a:srgbClr val="6B6488"/>
                </a:solidFill>
                <a:latin typeface="Calibri" pitchFamily="34" charset="0"/>
                <a:ea typeface="Calibri" pitchFamily="34" charset="-122"/>
                <a:cs typeface="Calibri" pitchFamily="34" charset="-120"/>
              </a:rPr>
              <a:t>actions</a:t>
            </a:r>
            <a:endParaRPr lang="en-US" sz="1000" dirty="0"/>
          </a:p>
        </p:txBody>
      </p:sp>
      <p:sp>
        <p:nvSpPr>
          <p:cNvPr id="26" name="Shape 23"/>
          <p:cNvSpPr/>
          <p:nvPr/>
        </p:nvSpPr>
        <p:spPr>
          <a:xfrm>
            <a:off x="2194560" y="2514600"/>
            <a:ext cx="640080" cy="0"/>
          </a:xfrm>
          <a:prstGeom prst="line">
            <a:avLst/>
          </a:prstGeom>
          <a:noFill/>
          <a:ln w="25400">
            <a:solidFill>
              <a:srgbClr val="6D28D9"/>
            </a:solidFill>
            <a:prstDash val="solid"/>
            <a:tailEnd type="triangle"/>
          </a:ln>
        </p:spPr>
      </p:sp>
      <p:sp>
        <p:nvSpPr>
          <p:cNvPr id="27" name="Text 24"/>
          <p:cNvSpPr txBox="1"/>
          <p:nvPr/>
        </p:nvSpPr>
        <p:spPr>
          <a:xfrm>
            <a:off x="5669280" y="2240280"/>
            <a:ext cx="640080" cy="228600"/>
          </a:xfrm>
          <a:prstGeom prst="rect">
            <a:avLst/>
          </a:prstGeom>
          <a:noFill/>
          <a:ln/>
        </p:spPr>
        <p:txBody>
          <a:bodyPr wrap="square" lIns="0" tIns="0" rIns="0" bIns="0" rtlCol="0" anchor="ctr"/>
          <a:lstStyle/>
          <a:p>
            <a:pPr algn="ctr" indent="0" marL="0">
              <a:buNone/>
            </a:pPr>
            <a:r>
              <a:rPr lang="en-US" sz="1000" dirty="0">
                <a:solidFill>
                  <a:srgbClr val="6B6488"/>
                </a:solidFill>
                <a:latin typeface="Calibri" pitchFamily="34" charset="0"/>
                <a:ea typeface="Calibri" pitchFamily="34" charset="-122"/>
                <a:cs typeface="Calibri" pitchFamily="34" charset="-120"/>
              </a:rPr>
              <a:t>metrics</a:t>
            </a:r>
            <a:endParaRPr lang="en-US" sz="1000" dirty="0"/>
          </a:p>
        </p:txBody>
      </p:sp>
      <p:sp>
        <p:nvSpPr>
          <p:cNvPr id="28" name="Shape 25"/>
          <p:cNvSpPr/>
          <p:nvPr/>
        </p:nvSpPr>
        <p:spPr>
          <a:xfrm>
            <a:off x="5669280" y="2514600"/>
            <a:ext cx="640080" cy="0"/>
          </a:xfrm>
          <a:prstGeom prst="line">
            <a:avLst/>
          </a:prstGeom>
          <a:noFill/>
          <a:ln w="25400">
            <a:solidFill>
              <a:srgbClr val="6D28D9"/>
            </a:solidFill>
            <a:prstDash val="solid"/>
            <a:tailEnd type="triangle"/>
          </a:ln>
        </p:spPr>
      </p:sp>
      <p:sp>
        <p:nvSpPr>
          <p:cNvPr id="29" name="Shape 26"/>
          <p:cNvSpPr/>
          <p:nvPr/>
        </p:nvSpPr>
        <p:spPr>
          <a:xfrm>
            <a:off x="457200" y="3931920"/>
            <a:ext cx="8229600" cy="640080"/>
          </a:xfrm>
          <a:prstGeom prst="roundRect">
            <a:avLst>
              <a:gd name="adj" fmla="val 14286"/>
            </a:avLst>
          </a:prstGeom>
          <a:solidFill>
            <a:srgbClr val="FEF3C7"/>
          </a:solidFill>
          <a:ln w="15875">
            <a:solidFill>
              <a:srgbClr val="FBBF24"/>
            </a:solidFill>
            <a:prstDash val="dash"/>
          </a:ln>
        </p:spPr>
      </p:sp>
      <p:sp>
        <p:nvSpPr>
          <p:cNvPr id="30" name="Text 27"/>
          <p:cNvSpPr txBox="1"/>
          <p:nvPr/>
        </p:nvSpPr>
        <p:spPr>
          <a:xfrm>
            <a:off x="640080" y="3931920"/>
            <a:ext cx="7863840" cy="640080"/>
          </a:xfrm>
          <a:prstGeom prst="rect">
            <a:avLst/>
          </a:prstGeom>
          <a:noFill/>
          <a:ln/>
        </p:spPr>
        <p:txBody>
          <a:bodyPr wrap="square" lIns="0" tIns="0" rIns="0" bIns="0" rtlCol="0" anchor="ctr"/>
          <a:lstStyle/>
          <a:p>
            <a:pPr indent="0" marL="0">
              <a:buNone/>
            </a:pPr>
            <a:r>
              <a:rPr lang="en-US" sz="1300" b="1" dirty="0">
                <a:solidFill>
                  <a:srgbClr val="2E1065"/>
                </a:solidFill>
                <a:latin typeface="Calibri" pitchFamily="34" charset="0"/>
                <a:ea typeface="Calibri" pitchFamily="34" charset="-122"/>
                <a:cs typeface="Calibri" pitchFamily="34" charset="-120"/>
              </a:rPr>
              <a:t>Game flow  </a:t>
            </a:r>
            <a:pPr indent="0" marL="0">
              <a:buNone/>
            </a:pPr>
            <a:r>
              <a:rPr lang="en-US" sz="1300" dirty="0">
                <a:solidFill>
                  <a:srgbClr val="1F1B2E"/>
                </a:solidFill>
                <a:latin typeface="Calibri" pitchFamily="34" charset="0"/>
                <a:ea typeface="Calibri" pitchFamily="34" charset="-122"/>
                <a:cs typeface="Calibri" pitchFamily="34" charset="-120"/>
              </a:rPr>
              <a:t>Player action -&gt; check answer -&gt; update inventory -&gt; log AI status -&gt; adjust difficulty / hints -&gt; next puzzle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498080" cy="548640"/>
          </a:xfrm>
          <a:prstGeom prst="rect">
            <a:avLst/>
          </a:prstGeom>
          <a:noFill/>
          <a:ln/>
        </p:spPr>
        <p:txBody>
          <a:bodyPr wrap="square" lIns="0" tIns="0" rIns="0" bIns="0" rtlCol="0" anchor="ctr"/>
          <a:lstStyle/>
          <a:p>
            <a:pPr indent="0" marL="0">
              <a:buNone/>
            </a:pPr>
            <a:r>
              <a:rPr lang="en-US" sz="3000" b="1" dirty="0">
                <a:solidFill>
                  <a:srgbClr val="2E1065"/>
                </a:solidFill>
                <a:latin typeface="Cambria" pitchFamily="34" charset="0"/>
                <a:ea typeface="Cambria" pitchFamily="34" charset="-122"/>
                <a:cs typeface="Cambria" pitchFamily="34" charset="-120"/>
              </a:rPr>
              <a:t>CSP Engine: How a Puzzle is Generated</a:t>
            </a:r>
            <a:endParaRPr lang="en-US" sz="3000" dirty="0"/>
          </a:p>
        </p:txBody>
      </p:sp>
      <p:sp>
        <p:nvSpPr>
          <p:cNvPr id="3" name="Text 1"/>
          <p:cNvSpPr txBox="1"/>
          <p:nvPr/>
        </p:nvSpPr>
        <p:spPr>
          <a:xfrm>
            <a:off x="457200" y="804672"/>
            <a:ext cx="7498080" cy="274320"/>
          </a:xfrm>
          <a:prstGeom prst="rect">
            <a:avLst/>
          </a:prstGeom>
          <a:noFill/>
          <a:ln/>
        </p:spPr>
        <p:txBody>
          <a:bodyPr wrap="square" lIns="0" tIns="0" rIns="0" bIns="0" rtlCol="0" anchor="ctr"/>
          <a:lstStyle/>
          <a:p>
            <a:pPr indent="0" marL="0">
              <a:buNone/>
            </a:pPr>
            <a:r>
              <a:rPr lang="en-US" sz="1400" dirty="0">
                <a:solidFill>
                  <a:srgbClr val="6B6488"/>
                </a:solidFill>
                <a:latin typeface="Calibri" pitchFamily="34" charset="0"/>
                <a:ea typeface="Calibri" pitchFamily="34" charset="-122"/>
                <a:cs typeface="Calibri" pitchFamily="34" charset="-120"/>
              </a:rPr>
              <a:t>Variables, domains and constraints, then backtracking search</a:t>
            </a:r>
            <a:endParaRPr lang="en-US" sz="1400" dirty="0"/>
          </a:p>
        </p:txBody>
      </p:sp>
      <p:sp>
        <p:nvSpPr>
          <p:cNvPr id="4" name="Shape 2"/>
          <p:cNvSpPr/>
          <p:nvPr/>
        </p:nvSpPr>
        <p:spPr>
          <a:xfrm>
            <a:off x="457200" y="1280160"/>
            <a:ext cx="4937760" cy="457200"/>
          </a:xfrm>
          <a:prstGeom prst="roundRect">
            <a:avLst>
              <a:gd name="adj" fmla="val 20000"/>
            </a:avLst>
          </a:prstGeom>
          <a:solidFill>
            <a:srgbClr val="F5F3FF"/>
          </a:solidFill>
          <a:ln w="15875">
            <a:solidFill>
              <a:srgbClr val="A78BFA"/>
            </a:solidFill>
            <a:prstDash val="dash"/>
          </a:ln>
        </p:spPr>
      </p:sp>
      <p:sp>
        <p:nvSpPr>
          <p:cNvPr id="5" name="Shape 3"/>
          <p:cNvSpPr/>
          <p:nvPr/>
        </p:nvSpPr>
        <p:spPr>
          <a:xfrm>
            <a:off x="530352" y="1335024"/>
            <a:ext cx="347472" cy="347472"/>
          </a:xfrm>
          <a:prstGeom prst="ellipse">
            <a:avLst/>
          </a:prstGeom>
          <a:solidFill>
            <a:srgbClr val="6D28D9"/>
          </a:solidFill>
          <a:ln w="12700">
            <a:solidFill>
              <a:srgbClr val="6D28D9"/>
            </a:solidFill>
            <a:prstDash val="solid"/>
          </a:ln>
        </p:spPr>
      </p:sp>
      <p:sp>
        <p:nvSpPr>
          <p:cNvPr id="6" name="Text 4"/>
          <p:cNvSpPr txBox="1"/>
          <p:nvPr/>
        </p:nvSpPr>
        <p:spPr>
          <a:xfrm>
            <a:off x="530352" y="133502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005840" y="1280160"/>
            <a:ext cx="4297680" cy="457200"/>
          </a:xfrm>
          <a:prstGeom prst="rect">
            <a:avLst/>
          </a:prstGeom>
          <a:noFill/>
          <a:ln/>
        </p:spPr>
        <p:txBody>
          <a:bodyPr wrap="square" lIns="0" tIns="0" rIns="0" bIns="0" rtlCol="0" anchor="ctr"/>
          <a:lstStyle/>
          <a:p>
            <a:pPr indent="0" marL="0">
              <a:buNone/>
            </a:pPr>
            <a:r>
              <a:rPr lang="en-US" sz="1200" b="1" dirty="0">
                <a:solidFill>
                  <a:srgbClr val="2E1065"/>
                </a:solidFill>
                <a:latin typeface="Calibri" pitchFamily="34" charset="0"/>
                <a:ea typeface="Calibri" pitchFamily="34" charset="-122"/>
                <a:cs typeface="Calibri" pitchFamily="34" charset="-120"/>
              </a:rPr>
              <a:t>Define variables</a:t>
            </a:r>
            <a:endParaRPr lang="en-US" sz="1200" dirty="0"/>
          </a:p>
          <a:p>
            <a:pPr indent="0" marL="0">
              <a:buNone/>
            </a:pPr>
            <a:r>
              <a:rPr lang="en-US" sz="1000" dirty="0">
                <a:solidFill>
                  <a:srgbClr val="6B6488"/>
                </a:solidFill>
                <a:latin typeface="Calibri" pitchFamily="34" charset="0"/>
                <a:ea typeface="Calibri" pitchFamily="34" charset="-122"/>
                <a:cs typeface="Calibri" pitchFamily="34" charset="-120"/>
              </a:rPr>
              <a:t>digits of the lock, object positions, door exits</a:t>
            </a:r>
            <a:endParaRPr lang="en-US" sz="1200" dirty="0"/>
          </a:p>
        </p:txBody>
      </p:sp>
      <p:sp>
        <p:nvSpPr>
          <p:cNvPr id="8" name="Shape 6"/>
          <p:cNvSpPr/>
          <p:nvPr/>
        </p:nvSpPr>
        <p:spPr>
          <a:xfrm>
            <a:off x="457200" y="1828800"/>
            <a:ext cx="4937760" cy="457200"/>
          </a:xfrm>
          <a:prstGeom prst="roundRect">
            <a:avLst>
              <a:gd name="adj" fmla="val 20000"/>
            </a:avLst>
          </a:prstGeom>
          <a:solidFill>
            <a:srgbClr val="F5F3FF"/>
          </a:solidFill>
          <a:ln w="15875">
            <a:solidFill>
              <a:srgbClr val="A78BFA"/>
            </a:solidFill>
            <a:prstDash val="dash"/>
          </a:ln>
        </p:spPr>
      </p:sp>
      <p:sp>
        <p:nvSpPr>
          <p:cNvPr id="9" name="Shape 7"/>
          <p:cNvSpPr/>
          <p:nvPr/>
        </p:nvSpPr>
        <p:spPr>
          <a:xfrm>
            <a:off x="530352" y="1883664"/>
            <a:ext cx="347472" cy="347472"/>
          </a:xfrm>
          <a:prstGeom prst="ellipse">
            <a:avLst/>
          </a:prstGeom>
          <a:solidFill>
            <a:srgbClr val="6D28D9"/>
          </a:solidFill>
          <a:ln w="12700">
            <a:solidFill>
              <a:srgbClr val="6D28D9"/>
            </a:solidFill>
            <a:prstDash val="solid"/>
          </a:ln>
        </p:spPr>
      </p:sp>
      <p:sp>
        <p:nvSpPr>
          <p:cNvPr id="10" name="Text 8"/>
          <p:cNvSpPr txBox="1"/>
          <p:nvPr/>
        </p:nvSpPr>
        <p:spPr>
          <a:xfrm>
            <a:off x="530352" y="188366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005840" y="1828800"/>
            <a:ext cx="4297680" cy="457200"/>
          </a:xfrm>
          <a:prstGeom prst="rect">
            <a:avLst/>
          </a:prstGeom>
          <a:noFill/>
          <a:ln/>
        </p:spPr>
        <p:txBody>
          <a:bodyPr wrap="square" lIns="0" tIns="0" rIns="0" bIns="0" rtlCol="0" anchor="ctr"/>
          <a:lstStyle/>
          <a:p>
            <a:pPr indent="0" marL="0">
              <a:buNone/>
            </a:pPr>
            <a:r>
              <a:rPr lang="en-US" sz="1200" b="1" dirty="0">
                <a:solidFill>
                  <a:srgbClr val="2E1065"/>
                </a:solidFill>
                <a:latin typeface="Calibri" pitchFamily="34" charset="0"/>
                <a:ea typeface="Calibri" pitchFamily="34" charset="-122"/>
                <a:cs typeface="Calibri" pitchFamily="34" charset="-120"/>
              </a:rPr>
              <a:t>Set domains</a:t>
            </a:r>
            <a:endParaRPr lang="en-US" sz="1200" dirty="0"/>
          </a:p>
          <a:p>
            <a:pPr indent="0" marL="0">
              <a:buNone/>
            </a:pPr>
            <a:r>
              <a:rPr lang="en-US" sz="1000" dirty="0">
                <a:solidFill>
                  <a:srgbClr val="6B6488"/>
                </a:solidFill>
                <a:latin typeface="Calibri" pitchFamily="34" charset="0"/>
                <a:ea typeface="Calibri" pitchFamily="34" charset="-122"/>
                <a:cs typeface="Calibri" pitchFamily="34" charset="-120"/>
              </a:rPr>
              <a:t>digits 0-9, positions 1-4, doors A/B/C</a:t>
            </a:r>
            <a:endParaRPr lang="en-US" sz="1200" dirty="0"/>
          </a:p>
        </p:txBody>
      </p:sp>
      <p:sp>
        <p:nvSpPr>
          <p:cNvPr id="12" name="Shape 10"/>
          <p:cNvSpPr/>
          <p:nvPr/>
        </p:nvSpPr>
        <p:spPr>
          <a:xfrm>
            <a:off x="457200" y="2377440"/>
            <a:ext cx="4937760" cy="457200"/>
          </a:xfrm>
          <a:prstGeom prst="roundRect">
            <a:avLst>
              <a:gd name="adj" fmla="val 20000"/>
            </a:avLst>
          </a:prstGeom>
          <a:solidFill>
            <a:srgbClr val="F5F3FF"/>
          </a:solidFill>
          <a:ln w="15875">
            <a:solidFill>
              <a:srgbClr val="A78BFA"/>
            </a:solidFill>
            <a:prstDash val="dash"/>
          </a:ln>
        </p:spPr>
      </p:sp>
      <p:sp>
        <p:nvSpPr>
          <p:cNvPr id="13" name="Shape 11"/>
          <p:cNvSpPr/>
          <p:nvPr/>
        </p:nvSpPr>
        <p:spPr>
          <a:xfrm>
            <a:off x="530352" y="2432304"/>
            <a:ext cx="347472" cy="347472"/>
          </a:xfrm>
          <a:prstGeom prst="ellipse">
            <a:avLst/>
          </a:prstGeom>
          <a:solidFill>
            <a:srgbClr val="6D28D9"/>
          </a:solidFill>
          <a:ln w="12700">
            <a:solidFill>
              <a:srgbClr val="6D28D9"/>
            </a:solidFill>
            <a:prstDash val="solid"/>
          </a:ln>
        </p:spPr>
      </p:sp>
      <p:sp>
        <p:nvSpPr>
          <p:cNvPr id="14" name="Text 12"/>
          <p:cNvSpPr txBox="1"/>
          <p:nvPr/>
        </p:nvSpPr>
        <p:spPr>
          <a:xfrm>
            <a:off x="530352" y="243230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txBox="1"/>
          <p:nvPr/>
        </p:nvSpPr>
        <p:spPr>
          <a:xfrm>
            <a:off x="1005840" y="2377440"/>
            <a:ext cx="4297680" cy="457200"/>
          </a:xfrm>
          <a:prstGeom prst="rect">
            <a:avLst/>
          </a:prstGeom>
          <a:noFill/>
          <a:ln/>
        </p:spPr>
        <p:txBody>
          <a:bodyPr wrap="square" lIns="0" tIns="0" rIns="0" bIns="0" rtlCol="0" anchor="ctr"/>
          <a:lstStyle/>
          <a:p>
            <a:pPr indent="0" marL="0">
              <a:buNone/>
            </a:pPr>
            <a:r>
              <a:rPr lang="en-US" sz="1200" b="1" dirty="0">
                <a:solidFill>
                  <a:srgbClr val="2E1065"/>
                </a:solidFill>
                <a:latin typeface="Calibri" pitchFamily="34" charset="0"/>
                <a:ea typeface="Calibri" pitchFamily="34" charset="-122"/>
                <a:cs typeface="Calibri" pitchFamily="34" charset="-120"/>
              </a:rPr>
              <a:t>Generate answer + clues</a:t>
            </a:r>
            <a:endParaRPr lang="en-US" sz="1200" dirty="0"/>
          </a:p>
          <a:p>
            <a:pPr indent="0" marL="0">
              <a:buNone/>
            </a:pPr>
            <a:r>
              <a:rPr lang="en-US" sz="1000" dirty="0">
                <a:solidFill>
                  <a:srgbClr val="6B6488"/>
                </a:solidFill>
                <a:latin typeface="Calibri" pitchFamily="34" charset="0"/>
                <a:ea typeface="Calibri" pitchFamily="34" charset="-122"/>
                <a:cs typeface="Calibri" pitchFamily="34" charset="-120"/>
              </a:rPr>
              <a:t>random valid solution, then constraints that point to it</a:t>
            </a:r>
            <a:endParaRPr lang="en-US" sz="1200" dirty="0"/>
          </a:p>
        </p:txBody>
      </p:sp>
      <p:sp>
        <p:nvSpPr>
          <p:cNvPr id="16" name="Shape 14"/>
          <p:cNvSpPr/>
          <p:nvPr/>
        </p:nvSpPr>
        <p:spPr>
          <a:xfrm>
            <a:off x="457200" y="2926080"/>
            <a:ext cx="4937760" cy="457200"/>
          </a:xfrm>
          <a:prstGeom prst="roundRect">
            <a:avLst>
              <a:gd name="adj" fmla="val 20000"/>
            </a:avLst>
          </a:prstGeom>
          <a:solidFill>
            <a:srgbClr val="F5F3FF"/>
          </a:solidFill>
          <a:ln w="15875">
            <a:solidFill>
              <a:srgbClr val="A78BFA"/>
            </a:solidFill>
            <a:prstDash val="dash"/>
          </a:ln>
        </p:spPr>
      </p:sp>
      <p:sp>
        <p:nvSpPr>
          <p:cNvPr id="17" name="Shape 15"/>
          <p:cNvSpPr/>
          <p:nvPr/>
        </p:nvSpPr>
        <p:spPr>
          <a:xfrm>
            <a:off x="530352" y="2980944"/>
            <a:ext cx="347472" cy="347472"/>
          </a:xfrm>
          <a:prstGeom prst="ellipse">
            <a:avLst/>
          </a:prstGeom>
          <a:solidFill>
            <a:srgbClr val="6D28D9"/>
          </a:solidFill>
          <a:ln w="12700">
            <a:solidFill>
              <a:srgbClr val="6D28D9"/>
            </a:solidFill>
            <a:prstDash val="solid"/>
          </a:ln>
        </p:spPr>
      </p:sp>
      <p:sp>
        <p:nvSpPr>
          <p:cNvPr id="18" name="Text 16"/>
          <p:cNvSpPr txBox="1"/>
          <p:nvPr/>
        </p:nvSpPr>
        <p:spPr>
          <a:xfrm>
            <a:off x="530352" y="298094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txBox="1"/>
          <p:nvPr/>
        </p:nvSpPr>
        <p:spPr>
          <a:xfrm>
            <a:off x="1005840" y="2926080"/>
            <a:ext cx="4297680" cy="457200"/>
          </a:xfrm>
          <a:prstGeom prst="rect">
            <a:avLst/>
          </a:prstGeom>
          <a:noFill/>
          <a:ln/>
        </p:spPr>
        <p:txBody>
          <a:bodyPr wrap="square" lIns="0" tIns="0" rIns="0" bIns="0" rtlCol="0" anchor="ctr"/>
          <a:lstStyle/>
          <a:p>
            <a:pPr indent="0" marL="0">
              <a:buNone/>
            </a:pPr>
            <a:r>
              <a:rPr lang="en-US" sz="1200" b="1" dirty="0">
                <a:solidFill>
                  <a:srgbClr val="2E1065"/>
                </a:solidFill>
                <a:latin typeface="Calibri" pitchFamily="34" charset="0"/>
                <a:ea typeface="Calibri" pitchFamily="34" charset="-122"/>
                <a:cs typeface="Calibri" pitchFamily="34" charset="-120"/>
              </a:rPr>
              <a:t>Backtrack + check</a:t>
            </a:r>
            <a:endParaRPr lang="en-US" sz="1200" dirty="0"/>
          </a:p>
          <a:p>
            <a:pPr indent="0" marL="0">
              <a:buNone/>
            </a:pPr>
            <a:r>
              <a:rPr lang="en-US" sz="1000" dirty="0">
                <a:solidFill>
                  <a:srgbClr val="6B6488"/>
                </a:solidFill>
                <a:latin typeface="Calibri" pitchFamily="34" charset="0"/>
                <a:ea typeface="Calibri" pitchFamily="34" charset="-122"/>
                <a:cs typeface="Calibri" pitchFamily="34" charset="-120"/>
              </a:rPr>
              <a:t>assign a value, test constraints, undo on dead end</a:t>
            </a:r>
            <a:endParaRPr lang="en-US" sz="1200" dirty="0"/>
          </a:p>
        </p:txBody>
      </p:sp>
      <p:sp>
        <p:nvSpPr>
          <p:cNvPr id="20" name="Shape 18"/>
          <p:cNvSpPr/>
          <p:nvPr/>
        </p:nvSpPr>
        <p:spPr>
          <a:xfrm>
            <a:off x="457200" y="3474720"/>
            <a:ext cx="4937760" cy="457200"/>
          </a:xfrm>
          <a:prstGeom prst="roundRect">
            <a:avLst>
              <a:gd name="adj" fmla="val 20000"/>
            </a:avLst>
          </a:prstGeom>
          <a:solidFill>
            <a:srgbClr val="F5F3FF"/>
          </a:solidFill>
          <a:ln w="15875">
            <a:solidFill>
              <a:srgbClr val="A78BFA"/>
            </a:solidFill>
            <a:prstDash val="dash"/>
          </a:ln>
        </p:spPr>
      </p:sp>
      <p:sp>
        <p:nvSpPr>
          <p:cNvPr id="21" name="Shape 19"/>
          <p:cNvSpPr/>
          <p:nvPr/>
        </p:nvSpPr>
        <p:spPr>
          <a:xfrm>
            <a:off x="530352" y="3529584"/>
            <a:ext cx="347472" cy="347472"/>
          </a:xfrm>
          <a:prstGeom prst="ellipse">
            <a:avLst/>
          </a:prstGeom>
          <a:solidFill>
            <a:srgbClr val="6D28D9"/>
          </a:solidFill>
          <a:ln w="12700">
            <a:solidFill>
              <a:srgbClr val="6D28D9"/>
            </a:solidFill>
            <a:prstDash val="solid"/>
          </a:ln>
        </p:spPr>
      </p:sp>
      <p:sp>
        <p:nvSpPr>
          <p:cNvPr id="22" name="Text 20"/>
          <p:cNvSpPr txBox="1"/>
          <p:nvPr/>
        </p:nvSpPr>
        <p:spPr>
          <a:xfrm>
            <a:off x="530352" y="352958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1"/>
          <p:cNvSpPr txBox="1"/>
          <p:nvPr/>
        </p:nvSpPr>
        <p:spPr>
          <a:xfrm>
            <a:off x="1005840" y="3474720"/>
            <a:ext cx="4297680" cy="457200"/>
          </a:xfrm>
          <a:prstGeom prst="rect">
            <a:avLst/>
          </a:prstGeom>
          <a:noFill/>
          <a:ln/>
        </p:spPr>
        <p:txBody>
          <a:bodyPr wrap="square" lIns="0" tIns="0" rIns="0" bIns="0" rtlCol="0" anchor="ctr"/>
          <a:lstStyle/>
          <a:p>
            <a:pPr indent="0" marL="0">
              <a:buNone/>
            </a:pPr>
            <a:r>
              <a:rPr lang="en-US" sz="1200" b="1" dirty="0">
                <a:solidFill>
                  <a:srgbClr val="2E1065"/>
                </a:solidFill>
                <a:latin typeface="Calibri" pitchFamily="34" charset="0"/>
                <a:ea typeface="Calibri" pitchFamily="34" charset="-122"/>
                <a:cs typeface="Calibri" pitchFamily="34" charset="-120"/>
              </a:rPr>
              <a:t>Verify uniqueness</a:t>
            </a:r>
            <a:endParaRPr lang="en-US" sz="1200" dirty="0"/>
          </a:p>
          <a:p>
            <a:pPr indent="0" marL="0">
              <a:buNone/>
            </a:pPr>
            <a:r>
              <a:rPr lang="en-US" sz="1000" dirty="0">
                <a:solidFill>
                  <a:srgbClr val="6B6488"/>
                </a:solidFill>
                <a:latin typeface="Calibri" pitchFamily="34" charset="0"/>
                <a:ea typeface="Calibri" pitchFamily="34" charset="-122"/>
                <a:cs typeface="Calibri" pitchFamily="34" charset="-120"/>
              </a:rPr>
              <a:t>clues must leave exactly one valid solution</a:t>
            </a:r>
            <a:endParaRPr lang="en-US" sz="1200" dirty="0"/>
          </a:p>
        </p:txBody>
      </p:sp>
      <p:sp>
        <p:nvSpPr>
          <p:cNvPr id="24" name="Shape 22"/>
          <p:cNvSpPr/>
          <p:nvPr/>
        </p:nvSpPr>
        <p:spPr>
          <a:xfrm>
            <a:off x="457200" y="4023360"/>
            <a:ext cx="4937760" cy="457200"/>
          </a:xfrm>
          <a:prstGeom prst="roundRect">
            <a:avLst>
              <a:gd name="adj" fmla="val 20000"/>
            </a:avLst>
          </a:prstGeom>
          <a:solidFill>
            <a:srgbClr val="F5F3FF"/>
          </a:solidFill>
          <a:ln w="15875">
            <a:solidFill>
              <a:srgbClr val="A78BFA"/>
            </a:solidFill>
            <a:prstDash val="dash"/>
          </a:ln>
        </p:spPr>
      </p:sp>
      <p:sp>
        <p:nvSpPr>
          <p:cNvPr id="25" name="Shape 23"/>
          <p:cNvSpPr/>
          <p:nvPr/>
        </p:nvSpPr>
        <p:spPr>
          <a:xfrm>
            <a:off x="530352" y="4078224"/>
            <a:ext cx="347472" cy="347472"/>
          </a:xfrm>
          <a:prstGeom prst="ellipse">
            <a:avLst/>
          </a:prstGeom>
          <a:solidFill>
            <a:srgbClr val="6D28D9"/>
          </a:solidFill>
          <a:ln w="12700">
            <a:solidFill>
              <a:srgbClr val="6D28D9"/>
            </a:solidFill>
            <a:prstDash val="solid"/>
          </a:ln>
        </p:spPr>
      </p:sp>
      <p:sp>
        <p:nvSpPr>
          <p:cNvPr id="26" name="Text 24"/>
          <p:cNvSpPr txBox="1"/>
          <p:nvPr/>
        </p:nvSpPr>
        <p:spPr>
          <a:xfrm>
            <a:off x="530352" y="407822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7" name="Text 25"/>
          <p:cNvSpPr txBox="1"/>
          <p:nvPr/>
        </p:nvSpPr>
        <p:spPr>
          <a:xfrm>
            <a:off x="1005840" y="4023360"/>
            <a:ext cx="4297680" cy="457200"/>
          </a:xfrm>
          <a:prstGeom prst="rect">
            <a:avLst/>
          </a:prstGeom>
          <a:noFill/>
          <a:ln/>
        </p:spPr>
        <p:txBody>
          <a:bodyPr wrap="square" lIns="0" tIns="0" rIns="0" bIns="0" rtlCol="0" anchor="ctr"/>
          <a:lstStyle/>
          <a:p>
            <a:pPr indent="0" marL="0">
              <a:buNone/>
            </a:pPr>
            <a:r>
              <a:rPr lang="en-US" sz="1200" b="1" dirty="0">
                <a:solidFill>
                  <a:srgbClr val="2E1065"/>
                </a:solidFill>
                <a:latin typeface="Calibri" pitchFamily="34" charset="0"/>
                <a:ea typeface="Calibri" pitchFamily="34" charset="-122"/>
                <a:cs typeface="Calibri" pitchFamily="34" charset="-120"/>
              </a:rPr>
              <a:t>Report to AI Status</a:t>
            </a:r>
            <a:endParaRPr lang="en-US" sz="1200" dirty="0"/>
          </a:p>
          <a:p>
            <a:pPr indent="0" marL="0">
              <a:buNone/>
            </a:pPr>
            <a:r>
              <a:rPr lang="en-US" sz="1000" dirty="0">
                <a:solidFill>
                  <a:srgbClr val="6B6488"/>
                </a:solidFill>
                <a:latin typeface="Calibri" pitchFamily="34" charset="0"/>
                <a:ea typeface="Calibri" pitchFamily="34" charset="-122"/>
                <a:cs typeface="Calibri" pitchFamily="34" charset="-120"/>
              </a:rPr>
              <a:t>backtracks and constraint checks are displayed</a:t>
            </a:r>
            <a:endParaRPr lang="en-US" sz="1200" dirty="0"/>
          </a:p>
        </p:txBody>
      </p:sp>
      <p:sp>
        <p:nvSpPr>
          <p:cNvPr id="28" name="Text 26"/>
          <p:cNvSpPr txBox="1"/>
          <p:nvPr/>
        </p:nvSpPr>
        <p:spPr>
          <a:xfrm>
            <a:off x="5760720" y="1234440"/>
            <a:ext cx="2743200" cy="274320"/>
          </a:xfrm>
          <a:prstGeom prst="rect">
            <a:avLst/>
          </a:prstGeom>
          <a:noFill/>
          <a:ln/>
        </p:spPr>
        <p:txBody>
          <a:bodyPr wrap="square" lIns="0" tIns="0" rIns="0" bIns="0" rtlCol="0" anchor="ctr"/>
          <a:lstStyle/>
          <a:p>
            <a:pPr algn="ctr" indent="0" marL="0">
              <a:buNone/>
            </a:pPr>
            <a:r>
              <a:rPr lang="en-US" sz="1100" i="1" dirty="0">
                <a:solidFill>
                  <a:srgbClr val="6B6488"/>
                </a:solidFill>
                <a:latin typeface="Calibri" pitchFamily="34" charset="0"/>
                <a:ea typeface="Calibri" pitchFamily="34" charset="-122"/>
                <a:cs typeface="Calibri" pitchFamily="34" charset="-120"/>
              </a:rPr>
              <a:t>search tree</a:t>
            </a:r>
            <a:endParaRPr lang="en-US" sz="1100" dirty="0"/>
          </a:p>
        </p:txBody>
      </p:sp>
      <p:sp>
        <p:nvSpPr>
          <p:cNvPr id="29" name="Shape 27"/>
          <p:cNvSpPr/>
          <p:nvPr/>
        </p:nvSpPr>
        <p:spPr>
          <a:xfrm flipH="1">
            <a:off x="6492240" y="1691640"/>
            <a:ext cx="640080" cy="548640"/>
          </a:xfrm>
          <a:prstGeom prst="line">
            <a:avLst/>
          </a:prstGeom>
          <a:noFill/>
          <a:ln w="19050">
            <a:solidFill>
              <a:srgbClr val="A78BFA"/>
            </a:solidFill>
            <a:prstDash val="solid"/>
          </a:ln>
        </p:spPr>
      </p:sp>
      <p:sp>
        <p:nvSpPr>
          <p:cNvPr id="30" name="Shape 28"/>
          <p:cNvSpPr/>
          <p:nvPr/>
        </p:nvSpPr>
        <p:spPr>
          <a:xfrm>
            <a:off x="7132320" y="1691640"/>
            <a:ext cx="640080" cy="548640"/>
          </a:xfrm>
          <a:prstGeom prst="line">
            <a:avLst/>
          </a:prstGeom>
          <a:noFill/>
          <a:ln w="19050">
            <a:solidFill>
              <a:srgbClr val="A78BFA"/>
            </a:solidFill>
            <a:prstDash val="solid"/>
          </a:ln>
        </p:spPr>
      </p:sp>
      <p:sp>
        <p:nvSpPr>
          <p:cNvPr id="31" name="Shape 29"/>
          <p:cNvSpPr/>
          <p:nvPr/>
        </p:nvSpPr>
        <p:spPr>
          <a:xfrm flipH="1">
            <a:off x="6126480" y="2624328"/>
            <a:ext cx="365760" cy="347472"/>
          </a:xfrm>
          <a:prstGeom prst="line">
            <a:avLst/>
          </a:prstGeom>
          <a:noFill/>
          <a:ln w="19050">
            <a:solidFill>
              <a:srgbClr val="A78BFA"/>
            </a:solidFill>
            <a:prstDash val="solid"/>
          </a:ln>
        </p:spPr>
      </p:sp>
      <p:sp>
        <p:nvSpPr>
          <p:cNvPr id="32" name="Shape 30"/>
          <p:cNvSpPr/>
          <p:nvPr/>
        </p:nvSpPr>
        <p:spPr>
          <a:xfrm>
            <a:off x="6492240" y="2624328"/>
            <a:ext cx="365760" cy="347472"/>
          </a:xfrm>
          <a:prstGeom prst="line">
            <a:avLst/>
          </a:prstGeom>
          <a:noFill/>
          <a:ln w="19050">
            <a:solidFill>
              <a:srgbClr val="A78BFA"/>
            </a:solidFill>
            <a:prstDash val="solid"/>
          </a:ln>
        </p:spPr>
      </p:sp>
      <p:sp>
        <p:nvSpPr>
          <p:cNvPr id="33" name="Shape 31"/>
          <p:cNvSpPr/>
          <p:nvPr/>
        </p:nvSpPr>
        <p:spPr>
          <a:xfrm>
            <a:off x="7772400" y="2624328"/>
            <a:ext cx="365760" cy="347472"/>
          </a:xfrm>
          <a:prstGeom prst="line">
            <a:avLst/>
          </a:prstGeom>
          <a:noFill/>
          <a:ln w="19050">
            <a:solidFill>
              <a:srgbClr val="A78BFA"/>
            </a:solidFill>
            <a:prstDash val="solid"/>
          </a:ln>
        </p:spPr>
      </p:sp>
      <p:sp>
        <p:nvSpPr>
          <p:cNvPr id="34" name="Shape 32"/>
          <p:cNvSpPr/>
          <p:nvPr/>
        </p:nvSpPr>
        <p:spPr>
          <a:xfrm>
            <a:off x="6940296" y="1508760"/>
            <a:ext cx="384048" cy="384048"/>
          </a:xfrm>
          <a:prstGeom prst="ellipse">
            <a:avLst/>
          </a:prstGeom>
          <a:solidFill>
            <a:srgbClr val="3B1A7A"/>
          </a:solidFill>
          <a:ln w="12700">
            <a:solidFill>
              <a:srgbClr val="3B1A7A"/>
            </a:solidFill>
            <a:prstDash val="solid"/>
          </a:ln>
        </p:spPr>
      </p:sp>
      <p:sp>
        <p:nvSpPr>
          <p:cNvPr id="35" name="Text 33"/>
          <p:cNvSpPr txBox="1"/>
          <p:nvPr/>
        </p:nvSpPr>
        <p:spPr>
          <a:xfrm>
            <a:off x="6940296" y="150876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Start</a:t>
            </a:r>
            <a:endParaRPr lang="en-US" sz="1000" dirty="0"/>
          </a:p>
        </p:txBody>
      </p:sp>
      <p:sp>
        <p:nvSpPr>
          <p:cNvPr id="36" name="Shape 34"/>
          <p:cNvSpPr/>
          <p:nvPr/>
        </p:nvSpPr>
        <p:spPr>
          <a:xfrm>
            <a:off x="6300216" y="2240280"/>
            <a:ext cx="384048" cy="384048"/>
          </a:xfrm>
          <a:prstGeom prst="ellipse">
            <a:avLst/>
          </a:prstGeom>
          <a:solidFill>
            <a:srgbClr val="6D28D9"/>
          </a:solidFill>
          <a:ln w="12700">
            <a:solidFill>
              <a:srgbClr val="6D28D9"/>
            </a:solidFill>
            <a:prstDash val="solid"/>
          </a:ln>
        </p:spPr>
      </p:sp>
      <p:sp>
        <p:nvSpPr>
          <p:cNvPr id="37" name="Text 35"/>
          <p:cNvSpPr txBox="1"/>
          <p:nvPr/>
        </p:nvSpPr>
        <p:spPr>
          <a:xfrm>
            <a:off x="6300216" y="224028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8" name="Shape 36"/>
          <p:cNvSpPr/>
          <p:nvPr/>
        </p:nvSpPr>
        <p:spPr>
          <a:xfrm>
            <a:off x="7580376" y="2240280"/>
            <a:ext cx="384048" cy="384048"/>
          </a:xfrm>
          <a:prstGeom prst="ellipse">
            <a:avLst/>
          </a:prstGeom>
          <a:solidFill>
            <a:srgbClr val="DC2626"/>
          </a:solidFill>
          <a:ln w="12700">
            <a:solidFill>
              <a:srgbClr val="DC2626"/>
            </a:solidFill>
            <a:prstDash val="solid"/>
          </a:ln>
        </p:spPr>
      </p:sp>
      <p:sp>
        <p:nvSpPr>
          <p:cNvPr id="39" name="Text 37"/>
          <p:cNvSpPr txBox="1"/>
          <p:nvPr/>
        </p:nvSpPr>
        <p:spPr>
          <a:xfrm>
            <a:off x="7580376" y="224028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X</a:t>
            </a:r>
            <a:endParaRPr lang="en-US" sz="1000" dirty="0"/>
          </a:p>
        </p:txBody>
      </p:sp>
      <p:sp>
        <p:nvSpPr>
          <p:cNvPr id="40" name="Shape 38"/>
          <p:cNvSpPr/>
          <p:nvPr/>
        </p:nvSpPr>
        <p:spPr>
          <a:xfrm>
            <a:off x="5934456" y="2971800"/>
            <a:ext cx="384048" cy="384048"/>
          </a:xfrm>
          <a:prstGeom prst="ellipse">
            <a:avLst/>
          </a:prstGeom>
          <a:solidFill>
            <a:srgbClr val="DC2626"/>
          </a:solidFill>
          <a:ln w="12700">
            <a:solidFill>
              <a:srgbClr val="DC2626"/>
            </a:solidFill>
            <a:prstDash val="solid"/>
          </a:ln>
        </p:spPr>
      </p:sp>
      <p:sp>
        <p:nvSpPr>
          <p:cNvPr id="41" name="Text 39"/>
          <p:cNvSpPr txBox="1"/>
          <p:nvPr/>
        </p:nvSpPr>
        <p:spPr>
          <a:xfrm>
            <a:off x="5934456" y="297180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X</a:t>
            </a:r>
            <a:endParaRPr lang="en-US" sz="1000" dirty="0"/>
          </a:p>
        </p:txBody>
      </p:sp>
      <p:sp>
        <p:nvSpPr>
          <p:cNvPr id="42" name="Shape 40"/>
          <p:cNvSpPr/>
          <p:nvPr/>
        </p:nvSpPr>
        <p:spPr>
          <a:xfrm>
            <a:off x="6665976" y="2971800"/>
            <a:ext cx="384048" cy="384048"/>
          </a:xfrm>
          <a:prstGeom prst="ellipse">
            <a:avLst/>
          </a:prstGeom>
          <a:solidFill>
            <a:srgbClr val="6D28D9"/>
          </a:solidFill>
          <a:ln w="12700">
            <a:solidFill>
              <a:srgbClr val="6D28D9"/>
            </a:solidFill>
            <a:prstDash val="solid"/>
          </a:ln>
        </p:spPr>
      </p:sp>
      <p:sp>
        <p:nvSpPr>
          <p:cNvPr id="43" name="Text 41"/>
          <p:cNvSpPr txBox="1"/>
          <p:nvPr/>
        </p:nvSpPr>
        <p:spPr>
          <a:xfrm>
            <a:off x="6665976" y="297180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44" name="Shape 42"/>
          <p:cNvSpPr/>
          <p:nvPr/>
        </p:nvSpPr>
        <p:spPr>
          <a:xfrm>
            <a:off x="7946136" y="2971800"/>
            <a:ext cx="384048" cy="384048"/>
          </a:xfrm>
          <a:prstGeom prst="ellipse">
            <a:avLst/>
          </a:prstGeom>
          <a:solidFill>
            <a:srgbClr val="059669"/>
          </a:solidFill>
          <a:ln w="12700">
            <a:solidFill>
              <a:srgbClr val="059669"/>
            </a:solidFill>
            <a:prstDash val="solid"/>
          </a:ln>
        </p:spPr>
      </p:sp>
      <p:sp>
        <p:nvSpPr>
          <p:cNvPr id="45" name="Text 43"/>
          <p:cNvSpPr txBox="1"/>
          <p:nvPr/>
        </p:nvSpPr>
        <p:spPr>
          <a:xfrm>
            <a:off x="7946136" y="297180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ok</a:t>
            </a:r>
            <a:endParaRPr lang="en-US" sz="1000" dirty="0"/>
          </a:p>
        </p:txBody>
      </p:sp>
      <p:sp>
        <p:nvSpPr>
          <p:cNvPr id="46" name="Text 44"/>
          <p:cNvSpPr txBox="1"/>
          <p:nvPr/>
        </p:nvSpPr>
        <p:spPr>
          <a:xfrm>
            <a:off x="5669280" y="3474720"/>
            <a:ext cx="2926080" cy="228600"/>
          </a:xfrm>
          <a:prstGeom prst="rect">
            <a:avLst/>
          </a:prstGeom>
          <a:noFill/>
          <a:ln/>
        </p:spPr>
        <p:txBody>
          <a:bodyPr wrap="square" lIns="0" tIns="0" rIns="0" bIns="0" rtlCol="0" anchor="ctr"/>
          <a:lstStyle/>
          <a:p>
            <a:pPr algn="ctr" indent="0" marL="0">
              <a:buNone/>
            </a:pPr>
            <a:r>
              <a:rPr lang="en-US" sz="1000" dirty="0">
                <a:solidFill>
                  <a:srgbClr val="6B6488"/>
                </a:solidFill>
                <a:latin typeface="Calibri" pitchFamily="34" charset="0"/>
                <a:ea typeface="Calibri" pitchFamily="34" charset="-122"/>
                <a:cs typeface="Calibri" pitchFamily="34" charset="-120"/>
              </a:rPr>
              <a:t>dead end: undo, try next value</a:t>
            </a:r>
            <a:endParaRPr lang="en-US" sz="1000" dirty="0"/>
          </a:p>
        </p:txBody>
      </p:sp>
      <p:sp>
        <p:nvSpPr>
          <p:cNvPr id="47" name="Shape 45"/>
          <p:cNvSpPr/>
          <p:nvPr/>
        </p:nvSpPr>
        <p:spPr>
          <a:xfrm>
            <a:off x="5669280" y="3749040"/>
            <a:ext cx="3017520" cy="868680"/>
          </a:xfrm>
          <a:prstGeom prst="roundRect">
            <a:avLst>
              <a:gd name="adj" fmla="val 10526"/>
            </a:avLst>
          </a:prstGeom>
          <a:solidFill>
            <a:srgbClr val="FEF3C7"/>
          </a:solidFill>
          <a:ln w="15875">
            <a:solidFill>
              <a:srgbClr val="FBBF24"/>
            </a:solidFill>
            <a:prstDash val="dash"/>
          </a:ln>
        </p:spPr>
      </p:sp>
      <p:sp>
        <p:nvSpPr>
          <p:cNvPr id="48" name="Text 46"/>
          <p:cNvSpPr txBox="1"/>
          <p:nvPr/>
        </p:nvSpPr>
        <p:spPr>
          <a:xfrm>
            <a:off x="5760720" y="3767328"/>
            <a:ext cx="2834640" cy="822960"/>
          </a:xfrm>
          <a:prstGeom prst="rect">
            <a:avLst/>
          </a:prstGeom>
          <a:noFill/>
          <a:ln/>
        </p:spPr>
        <p:txBody>
          <a:bodyPr wrap="square" lIns="0" tIns="0" rIns="0" bIns="0" rtlCol="0" anchor="ctr"/>
          <a:lstStyle/>
          <a:p>
            <a:pPr indent="0" marL="0">
              <a:buNone/>
            </a:pPr>
            <a:r>
              <a:rPr lang="en-US" sz="1100" b="1" dirty="0">
                <a:solidFill>
                  <a:srgbClr val="2E1065"/>
                </a:solidFill>
                <a:latin typeface="Calibri" pitchFamily="34" charset="0"/>
                <a:ea typeface="Calibri" pitchFamily="34" charset="-122"/>
                <a:cs typeface="Calibri" pitchFamily="34" charset="-120"/>
              </a:rPr>
              <a:t>Example constraints</a:t>
            </a:r>
            <a:endParaRPr lang="en-US" sz="1100" dirty="0"/>
          </a:p>
          <a:p>
            <a:pPr indent="0" marL="0">
              <a:buNone/>
            </a:pPr>
            <a:r>
              <a:rPr lang="en-US" sz="1100" dirty="0">
                <a:solidFill>
                  <a:srgbClr val="1F1B2E"/>
                </a:solidFill>
                <a:latin typeface="Calibri" pitchFamily="34" charset="0"/>
                <a:ea typeface="Calibri" pitchFamily="34" charset="-122"/>
                <a:cs typeface="Calibri" pitchFamily="34" charset="-120"/>
              </a:rPr>
              <a:t>No digit repeated, 3rd digit &gt; 1, Coin before Book, Key not next to Coin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498080" cy="548640"/>
          </a:xfrm>
          <a:prstGeom prst="rect">
            <a:avLst/>
          </a:prstGeom>
          <a:noFill/>
          <a:ln/>
        </p:spPr>
        <p:txBody>
          <a:bodyPr wrap="square" lIns="0" tIns="0" rIns="0" bIns="0" rtlCol="0" anchor="ctr"/>
          <a:lstStyle/>
          <a:p>
            <a:pPr indent="0" marL="0">
              <a:buNone/>
            </a:pPr>
            <a:r>
              <a:rPr lang="en-US" sz="3000" b="1" dirty="0">
                <a:solidFill>
                  <a:srgbClr val="2E1065"/>
                </a:solidFill>
                <a:latin typeface="Cambria" pitchFamily="34" charset="0"/>
                <a:ea typeface="Cambria" pitchFamily="34" charset="-122"/>
                <a:cs typeface="Cambria" pitchFamily="34" charset="-120"/>
              </a:rPr>
              <a:t>Modules</a:t>
            </a:r>
            <a:endParaRPr lang="en-US" sz="3000" dirty="0"/>
          </a:p>
        </p:txBody>
      </p:sp>
      <p:sp>
        <p:nvSpPr>
          <p:cNvPr id="3" name="Text 1"/>
          <p:cNvSpPr txBox="1"/>
          <p:nvPr/>
        </p:nvSpPr>
        <p:spPr>
          <a:xfrm>
            <a:off x="457200" y="804672"/>
            <a:ext cx="7498080" cy="274320"/>
          </a:xfrm>
          <a:prstGeom prst="rect">
            <a:avLst/>
          </a:prstGeom>
          <a:noFill/>
          <a:ln/>
        </p:spPr>
        <p:txBody>
          <a:bodyPr wrap="square" lIns="0" tIns="0" rIns="0" bIns="0" rtlCol="0" anchor="ctr"/>
          <a:lstStyle/>
          <a:p>
            <a:pPr indent="0" marL="0">
              <a:buNone/>
            </a:pPr>
            <a:r>
              <a:rPr lang="en-US" sz="1400" dirty="0">
                <a:solidFill>
                  <a:srgbClr val="6B6488"/>
                </a:solidFill>
                <a:latin typeface="Calibri" pitchFamily="34" charset="0"/>
                <a:ea typeface="Calibri" pitchFamily="34" charset="-122"/>
                <a:cs typeface="Calibri" pitchFamily="34" charset="-120"/>
              </a:rPr>
              <a:t>Four puzzle stages on top of four AI services</a:t>
            </a:r>
            <a:endParaRPr lang="en-US" sz="1400" dirty="0"/>
          </a:p>
        </p:txBody>
      </p:sp>
      <p:sp>
        <p:nvSpPr>
          <p:cNvPr id="4" name="Shape 2"/>
          <p:cNvSpPr/>
          <p:nvPr/>
        </p:nvSpPr>
        <p:spPr>
          <a:xfrm>
            <a:off x="457200" y="1280160"/>
            <a:ext cx="1965960" cy="1783080"/>
          </a:xfrm>
          <a:prstGeom prst="roundRect">
            <a:avLst>
              <a:gd name="adj" fmla="val 5128"/>
            </a:avLst>
          </a:prstGeom>
          <a:solidFill>
            <a:srgbClr val="F5F3FF"/>
          </a:solidFill>
          <a:ln w="15875">
            <a:solidFill>
              <a:srgbClr val="A78BFA"/>
            </a:solidFill>
            <a:prstDash val="dash"/>
          </a:ln>
        </p:spPr>
      </p:sp>
      <p:sp>
        <p:nvSpPr>
          <p:cNvPr id="5" name="Shape 3"/>
          <p:cNvSpPr/>
          <p:nvPr/>
        </p:nvSpPr>
        <p:spPr>
          <a:xfrm>
            <a:off x="548640" y="1371600"/>
            <a:ext cx="457200" cy="457200"/>
          </a:xfrm>
          <a:prstGeom prst="ellipse">
            <a:avLst/>
          </a:prstGeom>
          <a:solidFill>
            <a:srgbClr val="6D28D9"/>
          </a:solidFill>
          <a:ln w="12700">
            <a:solidFill>
              <a:srgbClr val="6D28D9"/>
            </a:solidFill>
            <a:prstDash val="solid"/>
          </a:ln>
        </p:spPr>
      </p:sp>
      <p:pic>
        <p:nvPicPr>
          <p:cNvPr id="6" name="Image 0" descr="preencoded.png">    </p:cNvPr>
          <p:cNvPicPr>
            <a:picLocks noChangeAspect="1"/>
          </p:cNvPicPr>
          <p:nvPr/>
        </p:nvPicPr>
        <p:blipFill>
          <a:blip r:embed="rId1"/>
          <a:stretch>
            <a:fillRect/>
          </a:stretch>
        </p:blipFill>
        <p:spPr>
          <a:xfrm>
            <a:off x="662940" y="1485900"/>
            <a:ext cx="228600" cy="228600"/>
          </a:xfrm>
          <a:prstGeom prst="rect">
            <a:avLst/>
          </a:prstGeom>
        </p:spPr>
      </p:pic>
      <p:sp>
        <p:nvSpPr>
          <p:cNvPr id="7" name="Text 4"/>
          <p:cNvSpPr txBox="1"/>
          <p:nvPr/>
        </p:nvSpPr>
        <p:spPr>
          <a:xfrm>
            <a:off x="1078992" y="1371600"/>
            <a:ext cx="1280160" cy="457200"/>
          </a:xfrm>
          <a:prstGeom prst="rect">
            <a:avLst/>
          </a:prstGeom>
          <a:noFill/>
          <a:ln/>
        </p:spPr>
        <p:txBody>
          <a:bodyPr wrap="square" lIns="0" tIns="0" rIns="0" bIns="0" rtlCol="0" anchor="ctr"/>
          <a:lstStyle/>
          <a:p>
            <a:pPr indent="0" marL="0">
              <a:buNone/>
            </a:pPr>
            <a:r>
              <a:rPr lang="en-US" sz="1400" b="1" dirty="0">
                <a:solidFill>
                  <a:srgbClr val="2E1065"/>
                </a:solidFill>
                <a:latin typeface="Calibri" pitchFamily="34" charset="0"/>
                <a:ea typeface="Calibri" pitchFamily="34" charset="-122"/>
                <a:cs typeface="Calibri" pitchFamily="34" charset="-120"/>
              </a:rPr>
              <a:t>Number Lock</a:t>
            </a:r>
            <a:endParaRPr lang="en-US" sz="1400" dirty="0"/>
          </a:p>
        </p:txBody>
      </p:sp>
      <p:sp>
        <p:nvSpPr>
          <p:cNvPr id="8" name="Text 5"/>
          <p:cNvSpPr txBox="1"/>
          <p:nvPr/>
        </p:nvSpPr>
        <p:spPr>
          <a:xfrm>
            <a:off x="566928" y="1920240"/>
            <a:ext cx="1783080" cy="1097280"/>
          </a:xfrm>
          <a:prstGeom prst="rect">
            <a:avLst/>
          </a:prstGeom>
          <a:noFill/>
          <a:ln/>
        </p:spPr>
        <p:txBody>
          <a:bodyPr wrap="square" lIns="0" tIns="0" rIns="0" bIns="0" rtlCol="0" anchor="t"/>
          <a:lstStyle/>
          <a:p>
            <a:pPr indent="0" marL="0">
              <a:buNone/>
            </a:pPr>
            <a:r>
              <a:rPr lang="en-US" sz="1100" b="1" dirty="0">
                <a:solidFill>
                  <a:srgbClr val="1F1B2E"/>
                </a:solidFill>
                <a:latin typeface="Calibri" pitchFamily="34" charset="0"/>
                <a:ea typeface="Calibri" pitchFamily="34" charset="-122"/>
                <a:cs typeface="Calibri" pitchFamily="34" charset="-120"/>
              </a:rPr>
              <a:t>Enter the 4-digit code</a:t>
            </a:r>
            <a:endParaRPr lang="en-US" sz="1100" dirty="0"/>
          </a:p>
          <a:p>
            <a:pPr indent="0" marL="0">
              <a:buNone/>
            </a:pPr>
            <a:r>
              <a:rPr lang="en-US" sz="1100" dirty="0">
                <a:solidFill>
                  <a:srgbClr val="6B6488"/>
                </a:solidFill>
                <a:latin typeface="Calibri" pitchFamily="34" charset="0"/>
                <a:ea typeface="Calibri" pitchFamily="34" charset="-122"/>
                <a:cs typeface="Calibri" pitchFamily="34" charset="-120"/>
              </a:rPr>
              <a:t>Clues: no repeats, parity, comparisons between digits</a:t>
            </a:r>
            <a:endParaRPr lang="en-US" sz="1100" dirty="0"/>
          </a:p>
        </p:txBody>
      </p:sp>
      <p:sp>
        <p:nvSpPr>
          <p:cNvPr id="9" name="Shape 6"/>
          <p:cNvSpPr/>
          <p:nvPr/>
        </p:nvSpPr>
        <p:spPr>
          <a:xfrm>
            <a:off x="2542032" y="1280160"/>
            <a:ext cx="1965960" cy="1783080"/>
          </a:xfrm>
          <a:prstGeom prst="roundRect">
            <a:avLst>
              <a:gd name="adj" fmla="val 5128"/>
            </a:avLst>
          </a:prstGeom>
          <a:solidFill>
            <a:srgbClr val="F5F3FF"/>
          </a:solidFill>
          <a:ln w="15875">
            <a:solidFill>
              <a:srgbClr val="A78BFA"/>
            </a:solidFill>
            <a:prstDash val="dash"/>
          </a:ln>
        </p:spPr>
      </p:sp>
      <p:sp>
        <p:nvSpPr>
          <p:cNvPr id="10" name="Shape 7"/>
          <p:cNvSpPr/>
          <p:nvPr/>
        </p:nvSpPr>
        <p:spPr>
          <a:xfrm>
            <a:off x="2633472" y="1371600"/>
            <a:ext cx="457200" cy="457200"/>
          </a:xfrm>
          <a:prstGeom prst="ellipse">
            <a:avLst/>
          </a:prstGeom>
          <a:solidFill>
            <a:srgbClr val="6D28D9"/>
          </a:solidFill>
          <a:ln w="12700">
            <a:solidFill>
              <a:srgbClr val="6D28D9"/>
            </a:solidFill>
            <a:prstDash val="solid"/>
          </a:ln>
        </p:spPr>
      </p:sp>
      <p:pic>
        <p:nvPicPr>
          <p:cNvPr id="11" name="Image 1" descr="preencoded.png">    </p:cNvPr>
          <p:cNvPicPr>
            <a:picLocks noChangeAspect="1"/>
          </p:cNvPicPr>
          <p:nvPr/>
        </p:nvPicPr>
        <p:blipFill>
          <a:blip r:embed="rId2"/>
          <a:stretch>
            <a:fillRect/>
          </a:stretch>
        </p:blipFill>
        <p:spPr>
          <a:xfrm>
            <a:off x="2747772" y="1485900"/>
            <a:ext cx="228600" cy="228600"/>
          </a:xfrm>
          <a:prstGeom prst="rect">
            <a:avLst/>
          </a:prstGeom>
        </p:spPr>
      </p:pic>
      <p:sp>
        <p:nvSpPr>
          <p:cNvPr id="12" name="Text 8"/>
          <p:cNvSpPr txBox="1"/>
          <p:nvPr/>
        </p:nvSpPr>
        <p:spPr>
          <a:xfrm>
            <a:off x="3163824" y="1371600"/>
            <a:ext cx="1280160" cy="457200"/>
          </a:xfrm>
          <a:prstGeom prst="rect">
            <a:avLst/>
          </a:prstGeom>
          <a:noFill/>
          <a:ln/>
        </p:spPr>
        <p:txBody>
          <a:bodyPr wrap="square" lIns="0" tIns="0" rIns="0" bIns="0" rtlCol="0" anchor="ctr"/>
          <a:lstStyle/>
          <a:p>
            <a:pPr indent="0" marL="0">
              <a:buNone/>
            </a:pPr>
            <a:r>
              <a:rPr lang="en-US" sz="1400" b="1" dirty="0">
                <a:solidFill>
                  <a:srgbClr val="2E1065"/>
                </a:solidFill>
                <a:latin typeface="Calibri" pitchFamily="34" charset="0"/>
                <a:ea typeface="Calibri" pitchFamily="34" charset="-122"/>
                <a:cs typeface="Calibri" pitchFamily="34" charset="-120"/>
              </a:rPr>
              <a:t>Objects</a:t>
            </a:r>
            <a:endParaRPr lang="en-US" sz="1400" dirty="0"/>
          </a:p>
        </p:txBody>
      </p:sp>
      <p:sp>
        <p:nvSpPr>
          <p:cNvPr id="13" name="Text 9"/>
          <p:cNvSpPr txBox="1"/>
          <p:nvPr/>
        </p:nvSpPr>
        <p:spPr>
          <a:xfrm>
            <a:off x="2651760" y="1920240"/>
            <a:ext cx="1783080" cy="1097280"/>
          </a:xfrm>
          <a:prstGeom prst="rect">
            <a:avLst/>
          </a:prstGeom>
          <a:noFill/>
          <a:ln/>
        </p:spPr>
        <p:txBody>
          <a:bodyPr wrap="square" lIns="0" tIns="0" rIns="0" bIns="0" rtlCol="0" anchor="t"/>
          <a:lstStyle/>
          <a:p>
            <a:pPr indent="0" marL="0">
              <a:buNone/>
            </a:pPr>
            <a:r>
              <a:rPr lang="en-US" sz="1100" b="1" dirty="0">
                <a:solidFill>
                  <a:srgbClr val="1F1B2E"/>
                </a:solidFill>
                <a:latin typeface="Calibri" pitchFamily="34" charset="0"/>
                <a:ea typeface="Calibri" pitchFamily="34" charset="-122"/>
                <a:cs typeface="Calibri" pitchFamily="34" charset="-120"/>
              </a:rPr>
              <a:t>Place Book, Key, Coin, Card</a:t>
            </a:r>
            <a:endParaRPr lang="en-US" sz="1100" dirty="0"/>
          </a:p>
          <a:p>
            <a:pPr indent="0" marL="0">
              <a:buNone/>
            </a:pPr>
            <a:r>
              <a:rPr lang="en-US" sz="1100" dirty="0">
                <a:solidFill>
                  <a:srgbClr val="6B6488"/>
                </a:solidFill>
                <a:latin typeface="Calibri" pitchFamily="34" charset="0"/>
                <a:ea typeface="Calibri" pitchFamily="34" charset="-122"/>
                <a:cs typeface="Calibri" pitchFamily="34" charset="-120"/>
              </a:rPr>
              <a:t>Order and adjacency rules decide the positions</a:t>
            </a:r>
            <a:endParaRPr lang="en-US" sz="1100" dirty="0"/>
          </a:p>
        </p:txBody>
      </p:sp>
      <p:sp>
        <p:nvSpPr>
          <p:cNvPr id="14" name="Shape 10"/>
          <p:cNvSpPr/>
          <p:nvPr/>
        </p:nvSpPr>
        <p:spPr>
          <a:xfrm>
            <a:off x="4626864" y="1280160"/>
            <a:ext cx="1965960" cy="1783080"/>
          </a:xfrm>
          <a:prstGeom prst="roundRect">
            <a:avLst>
              <a:gd name="adj" fmla="val 5128"/>
            </a:avLst>
          </a:prstGeom>
          <a:solidFill>
            <a:srgbClr val="F5F3FF"/>
          </a:solidFill>
          <a:ln w="15875">
            <a:solidFill>
              <a:srgbClr val="A78BFA"/>
            </a:solidFill>
            <a:prstDash val="dash"/>
          </a:ln>
        </p:spPr>
      </p:sp>
      <p:sp>
        <p:nvSpPr>
          <p:cNvPr id="15" name="Shape 11"/>
          <p:cNvSpPr/>
          <p:nvPr/>
        </p:nvSpPr>
        <p:spPr>
          <a:xfrm>
            <a:off x="4718304" y="1371600"/>
            <a:ext cx="457200" cy="457200"/>
          </a:xfrm>
          <a:prstGeom prst="ellipse">
            <a:avLst/>
          </a:prstGeom>
          <a:solidFill>
            <a:srgbClr val="6D28D9"/>
          </a:solidFill>
          <a:ln w="12700">
            <a:solidFill>
              <a:srgbClr val="6D28D9"/>
            </a:solidFill>
            <a:prstDash val="solid"/>
          </a:ln>
        </p:spPr>
      </p:sp>
      <p:pic>
        <p:nvPicPr>
          <p:cNvPr id="16" name="Image 2" descr="preencoded.png">    </p:cNvPr>
          <p:cNvPicPr>
            <a:picLocks noChangeAspect="1"/>
          </p:cNvPicPr>
          <p:nvPr/>
        </p:nvPicPr>
        <p:blipFill>
          <a:blip r:embed="rId3"/>
          <a:stretch>
            <a:fillRect/>
          </a:stretch>
        </p:blipFill>
        <p:spPr>
          <a:xfrm>
            <a:off x="4832604" y="1485900"/>
            <a:ext cx="228600" cy="228600"/>
          </a:xfrm>
          <a:prstGeom prst="rect">
            <a:avLst/>
          </a:prstGeom>
        </p:spPr>
      </p:pic>
      <p:sp>
        <p:nvSpPr>
          <p:cNvPr id="17" name="Text 12"/>
          <p:cNvSpPr txBox="1"/>
          <p:nvPr/>
        </p:nvSpPr>
        <p:spPr>
          <a:xfrm>
            <a:off x="5248656" y="1371600"/>
            <a:ext cx="1280160" cy="457200"/>
          </a:xfrm>
          <a:prstGeom prst="rect">
            <a:avLst/>
          </a:prstGeom>
          <a:noFill/>
          <a:ln/>
        </p:spPr>
        <p:txBody>
          <a:bodyPr wrap="square" lIns="0" tIns="0" rIns="0" bIns="0" rtlCol="0" anchor="ctr"/>
          <a:lstStyle/>
          <a:p>
            <a:pPr indent="0" marL="0">
              <a:buNone/>
            </a:pPr>
            <a:r>
              <a:rPr lang="en-US" sz="1400" b="1" dirty="0">
                <a:solidFill>
                  <a:srgbClr val="2E1065"/>
                </a:solidFill>
                <a:latin typeface="Calibri" pitchFamily="34" charset="0"/>
                <a:ea typeface="Calibri" pitchFamily="34" charset="-122"/>
                <a:cs typeface="Calibri" pitchFamily="34" charset="-120"/>
              </a:rPr>
              <a:t>Logic Doors</a:t>
            </a:r>
            <a:endParaRPr lang="en-US" sz="1400" dirty="0"/>
          </a:p>
        </p:txBody>
      </p:sp>
      <p:sp>
        <p:nvSpPr>
          <p:cNvPr id="18" name="Text 13"/>
          <p:cNvSpPr txBox="1"/>
          <p:nvPr/>
        </p:nvSpPr>
        <p:spPr>
          <a:xfrm>
            <a:off x="4736592" y="1920240"/>
            <a:ext cx="1783080" cy="1097280"/>
          </a:xfrm>
          <a:prstGeom prst="rect">
            <a:avLst/>
          </a:prstGeom>
          <a:noFill/>
          <a:ln/>
        </p:spPr>
        <p:txBody>
          <a:bodyPr wrap="square" lIns="0" tIns="0" rIns="0" bIns="0" rtlCol="0" anchor="t"/>
          <a:lstStyle/>
          <a:p>
            <a:pPr indent="0" marL="0">
              <a:buNone/>
            </a:pPr>
            <a:r>
              <a:rPr lang="en-US" sz="1100" b="1" dirty="0">
                <a:solidFill>
                  <a:srgbClr val="1F1B2E"/>
                </a:solidFill>
                <a:latin typeface="Calibri" pitchFamily="34" charset="0"/>
                <a:ea typeface="Calibri" pitchFamily="34" charset="-122"/>
                <a:cs typeface="Calibri" pitchFamily="34" charset="-120"/>
              </a:rPr>
              <a:t>Pick the exit door</a:t>
            </a:r>
            <a:endParaRPr lang="en-US" sz="1100" dirty="0"/>
          </a:p>
          <a:p>
            <a:pPr indent="0" marL="0">
              <a:buNone/>
            </a:pPr>
            <a:r>
              <a:rPr lang="en-US" sz="1100" dirty="0">
                <a:solidFill>
                  <a:srgbClr val="6B6488"/>
                </a:solidFill>
                <a:latin typeface="Calibri" pitchFamily="34" charset="0"/>
                <a:ea typeface="Calibri" pitchFamily="34" charset="-122"/>
                <a:cs typeface="Calibri" pitchFamily="34" charset="-120"/>
              </a:rPr>
              <a:t>Only one door is the exit, exactly one sign tells the truth</a:t>
            </a:r>
            <a:endParaRPr lang="en-US" sz="1100" dirty="0"/>
          </a:p>
        </p:txBody>
      </p:sp>
      <p:sp>
        <p:nvSpPr>
          <p:cNvPr id="19" name="Shape 14"/>
          <p:cNvSpPr/>
          <p:nvPr/>
        </p:nvSpPr>
        <p:spPr>
          <a:xfrm>
            <a:off x="6711696" y="1280160"/>
            <a:ext cx="1965960" cy="1783080"/>
          </a:xfrm>
          <a:prstGeom prst="roundRect">
            <a:avLst>
              <a:gd name="adj" fmla="val 5128"/>
            </a:avLst>
          </a:prstGeom>
          <a:solidFill>
            <a:srgbClr val="F5F3FF"/>
          </a:solidFill>
          <a:ln w="15875">
            <a:solidFill>
              <a:srgbClr val="A78BFA"/>
            </a:solidFill>
            <a:prstDash val="dash"/>
          </a:ln>
        </p:spPr>
      </p:sp>
      <p:sp>
        <p:nvSpPr>
          <p:cNvPr id="20" name="Shape 15"/>
          <p:cNvSpPr/>
          <p:nvPr/>
        </p:nvSpPr>
        <p:spPr>
          <a:xfrm>
            <a:off x="6803136" y="1371600"/>
            <a:ext cx="457200" cy="457200"/>
          </a:xfrm>
          <a:prstGeom prst="ellipse">
            <a:avLst/>
          </a:prstGeom>
          <a:solidFill>
            <a:srgbClr val="6D28D9"/>
          </a:solidFill>
          <a:ln w="12700">
            <a:solidFill>
              <a:srgbClr val="6D28D9"/>
            </a:solidFill>
            <a:prstDash val="solid"/>
          </a:ln>
        </p:spPr>
      </p:sp>
      <p:pic>
        <p:nvPicPr>
          <p:cNvPr id="21" name="Image 3" descr="preencoded.png">    </p:cNvPr>
          <p:cNvPicPr>
            <a:picLocks noChangeAspect="1"/>
          </p:cNvPicPr>
          <p:nvPr/>
        </p:nvPicPr>
        <p:blipFill>
          <a:blip r:embed="rId4"/>
          <a:stretch>
            <a:fillRect/>
          </a:stretch>
        </p:blipFill>
        <p:spPr>
          <a:xfrm>
            <a:off x="6917436" y="1485900"/>
            <a:ext cx="228600" cy="228600"/>
          </a:xfrm>
          <a:prstGeom prst="rect">
            <a:avLst/>
          </a:prstGeom>
        </p:spPr>
      </p:pic>
      <p:sp>
        <p:nvSpPr>
          <p:cNvPr id="22" name="Text 16"/>
          <p:cNvSpPr txBox="1"/>
          <p:nvPr/>
        </p:nvSpPr>
        <p:spPr>
          <a:xfrm>
            <a:off x="7333488" y="1371600"/>
            <a:ext cx="1280160" cy="457200"/>
          </a:xfrm>
          <a:prstGeom prst="rect">
            <a:avLst/>
          </a:prstGeom>
          <a:noFill/>
          <a:ln/>
        </p:spPr>
        <p:txBody>
          <a:bodyPr wrap="square" lIns="0" tIns="0" rIns="0" bIns="0" rtlCol="0" anchor="ctr"/>
          <a:lstStyle/>
          <a:p>
            <a:pPr indent="0" marL="0">
              <a:buNone/>
            </a:pPr>
            <a:r>
              <a:rPr lang="en-US" sz="1400" b="1" dirty="0">
                <a:solidFill>
                  <a:srgbClr val="2E1065"/>
                </a:solidFill>
                <a:latin typeface="Calibri" pitchFamily="34" charset="0"/>
                <a:ea typeface="Calibri" pitchFamily="34" charset="-122"/>
                <a:cs typeface="Calibri" pitchFamily="34" charset="-120"/>
              </a:rPr>
              <a:t>Final Escape</a:t>
            </a:r>
            <a:endParaRPr lang="en-US" sz="1400" dirty="0"/>
          </a:p>
        </p:txBody>
      </p:sp>
      <p:sp>
        <p:nvSpPr>
          <p:cNvPr id="23" name="Text 17"/>
          <p:cNvSpPr txBox="1"/>
          <p:nvPr/>
        </p:nvSpPr>
        <p:spPr>
          <a:xfrm>
            <a:off x="6821424" y="1920240"/>
            <a:ext cx="1783080" cy="1097280"/>
          </a:xfrm>
          <a:prstGeom prst="rect">
            <a:avLst/>
          </a:prstGeom>
          <a:noFill/>
          <a:ln/>
        </p:spPr>
        <p:txBody>
          <a:bodyPr wrap="square" lIns="0" tIns="0" rIns="0" bIns="0" rtlCol="0" anchor="t"/>
          <a:lstStyle/>
          <a:p>
            <a:pPr indent="0" marL="0">
              <a:buNone/>
            </a:pPr>
            <a:r>
              <a:rPr lang="en-US" sz="1100" b="1" dirty="0">
                <a:solidFill>
                  <a:srgbClr val="1F1B2E"/>
                </a:solidFill>
                <a:latin typeface="Calibri" pitchFamily="34" charset="0"/>
                <a:ea typeface="Calibri" pitchFamily="34" charset="-122"/>
                <a:cs typeface="Calibri" pitchFamily="34" charset="-120"/>
              </a:rPr>
              <a:t>Use collected items</a:t>
            </a:r>
            <a:endParaRPr lang="en-US" sz="1100" dirty="0"/>
          </a:p>
          <a:p>
            <a:pPr indent="0" marL="0">
              <a:buNone/>
            </a:pPr>
            <a:r>
              <a:rPr lang="en-US" sz="1100" dirty="0">
                <a:solidFill>
                  <a:srgbClr val="6B6488"/>
                </a:solidFill>
                <a:latin typeface="Calibri" pitchFamily="34" charset="0"/>
                <a:ea typeface="Calibri" pitchFamily="34" charset="-122"/>
                <a:cs typeface="Calibri" pitchFamily="34" charset="-120"/>
              </a:rPr>
              <a:t>Lock code and key position from earlier puzzles open the exit</a:t>
            </a:r>
            <a:endParaRPr lang="en-US" sz="1100" dirty="0"/>
          </a:p>
        </p:txBody>
      </p:sp>
      <p:sp>
        <p:nvSpPr>
          <p:cNvPr id="24" name="Shape 18"/>
          <p:cNvSpPr/>
          <p:nvPr/>
        </p:nvSpPr>
        <p:spPr>
          <a:xfrm>
            <a:off x="457200" y="3337560"/>
            <a:ext cx="1965960" cy="1234440"/>
          </a:xfrm>
          <a:prstGeom prst="roundRect">
            <a:avLst>
              <a:gd name="adj" fmla="val 7407"/>
            </a:avLst>
          </a:prstGeom>
          <a:solidFill>
            <a:srgbClr val="FFFFFF"/>
          </a:solidFill>
          <a:ln w="15875">
            <a:solidFill>
              <a:srgbClr val="A78BFA"/>
            </a:solidFill>
            <a:prstDash val="dash"/>
          </a:ln>
        </p:spPr>
      </p:sp>
      <p:sp>
        <p:nvSpPr>
          <p:cNvPr id="25" name="Shape 19"/>
          <p:cNvSpPr/>
          <p:nvPr/>
        </p:nvSpPr>
        <p:spPr>
          <a:xfrm>
            <a:off x="548640" y="3429000"/>
            <a:ext cx="384048" cy="384048"/>
          </a:xfrm>
          <a:prstGeom prst="ellipse">
            <a:avLst/>
          </a:prstGeom>
          <a:solidFill>
            <a:srgbClr val="6D28D9"/>
          </a:solidFill>
          <a:ln w="12700">
            <a:solidFill>
              <a:srgbClr val="6D28D9"/>
            </a:solidFill>
            <a:prstDash val="solid"/>
          </a:ln>
        </p:spPr>
      </p:sp>
      <p:pic>
        <p:nvPicPr>
          <p:cNvPr id="26" name="Image 4" descr="preencoded.png">    </p:cNvPr>
          <p:cNvPicPr>
            <a:picLocks noChangeAspect="1"/>
          </p:cNvPicPr>
          <p:nvPr/>
        </p:nvPicPr>
        <p:blipFill>
          <a:blip r:embed="rId5"/>
          <a:stretch>
            <a:fillRect/>
          </a:stretch>
        </p:blipFill>
        <p:spPr>
          <a:xfrm>
            <a:off x="644652" y="3525012"/>
            <a:ext cx="192024" cy="192024"/>
          </a:xfrm>
          <a:prstGeom prst="rect">
            <a:avLst/>
          </a:prstGeom>
        </p:spPr>
      </p:pic>
      <p:sp>
        <p:nvSpPr>
          <p:cNvPr id="27" name="Text 20"/>
          <p:cNvSpPr txBox="1"/>
          <p:nvPr/>
        </p:nvSpPr>
        <p:spPr>
          <a:xfrm>
            <a:off x="1005840" y="3429000"/>
            <a:ext cx="1371600" cy="384048"/>
          </a:xfrm>
          <a:prstGeom prst="rect">
            <a:avLst/>
          </a:prstGeom>
          <a:noFill/>
          <a:ln/>
        </p:spPr>
        <p:txBody>
          <a:bodyPr wrap="square" lIns="0" tIns="0" rIns="0" bIns="0" rtlCol="0" anchor="ctr"/>
          <a:lstStyle/>
          <a:p>
            <a:pPr indent="0" marL="0">
              <a:buNone/>
            </a:pPr>
            <a:r>
              <a:rPr lang="en-US" sz="1200" b="1" dirty="0">
                <a:solidFill>
                  <a:srgbClr val="2E1065"/>
                </a:solidFill>
                <a:latin typeface="Calibri" pitchFamily="34" charset="0"/>
                <a:ea typeface="Calibri" pitchFamily="34" charset="-122"/>
                <a:cs typeface="Calibri" pitchFamily="34" charset="-120"/>
              </a:rPr>
              <a:t>CSP Generator</a:t>
            </a:r>
            <a:endParaRPr lang="en-US" sz="1200" dirty="0"/>
          </a:p>
        </p:txBody>
      </p:sp>
      <p:sp>
        <p:nvSpPr>
          <p:cNvPr id="28" name="Text 21"/>
          <p:cNvSpPr txBox="1"/>
          <p:nvPr/>
        </p:nvSpPr>
        <p:spPr>
          <a:xfrm>
            <a:off x="566928" y="3931920"/>
            <a:ext cx="1783080" cy="594360"/>
          </a:xfrm>
          <a:prstGeom prst="rect">
            <a:avLst/>
          </a:prstGeom>
          <a:noFill/>
          <a:ln/>
        </p:spPr>
        <p:txBody>
          <a:bodyPr wrap="square" lIns="0" tIns="0" rIns="0" bIns="0" rtlCol="0" anchor="t"/>
          <a:lstStyle/>
          <a:p>
            <a:pPr indent="0" marL="0">
              <a:buNone/>
            </a:pPr>
            <a:r>
              <a:rPr lang="en-US" sz="1100" dirty="0">
                <a:solidFill>
                  <a:srgbClr val="6B6488"/>
                </a:solidFill>
                <a:latin typeface="Calibri" pitchFamily="34" charset="0"/>
                <a:ea typeface="Calibri" pitchFamily="34" charset="-122"/>
                <a:cs typeface="Calibri" pitchFamily="34" charset="-120"/>
              </a:rPr>
              <a:t>backtracking builds each puzzle</a:t>
            </a:r>
            <a:endParaRPr lang="en-US" sz="1100" dirty="0"/>
          </a:p>
        </p:txBody>
      </p:sp>
      <p:sp>
        <p:nvSpPr>
          <p:cNvPr id="29" name="Shape 22"/>
          <p:cNvSpPr/>
          <p:nvPr/>
        </p:nvSpPr>
        <p:spPr>
          <a:xfrm>
            <a:off x="2542032" y="3337560"/>
            <a:ext cx="1965960" cy="1234440"/>
          </a:xfrm>
          <a:prstGeom prst="roundRect">
            <a:avLst>
              <a:gd name="adj" fmla="val 7407"/>
            </a:avLst>
          </a:prstGeom>
          <a:solidFill>
            <a:srgbClr val="FFFFFF"/>
          </a:solidFill>
          <a:ln w="15875">
            <a:solidFill>
              <a:srgbClr val="A78BFA"/>
            </a:solidFill>
            <a:prstDash val="dash"/>
          </a:ln>
        </p:spPr>
      </p:sp>
      <p:sp>
        <p:nvSpPr>
          <p:cNvPr id="30" name="Shape 23"/>
          <p:cNvSpPr/>
          <p:nvPr/>
        </p:nvSpPr>
        <p:spPr>
          <a:xfrm>
            <a:off x="2633472" y="3429000"/>
            <a:ext cx="384048" cy="384048"/>
          </a:xfrm>
          <a:prstGeom prst="ellipse">
            <a:avLst/>
          </a:prstGeom>
          <a:solidFill>
            <a:srgbClr val="6D28D9"/>
          </a:solidFill>
          <a:ln w="12700">
            <a:solidFill>
              <a:srgbClr val="6D28D9"/>
            </a:solidFill>
            <a:prstDash val="solid"/>
          </a:ln>
        </p:spPr>
      </p:sp>
      <p:pic>
        <p:nvPicPr>
          <p:cNvPr id="31" name="Image 5" descr="preencoded.png">    </p:cNvPr>
          <p:cNvPicPr>
            <a:picLocks noChangeAspect="1"/>
          </p:cNvPicPr>
          <p:nvPr/>
        </p:nvPicPr>
        <p:blipFill>
          <a:blip r:embed="rId6"/>
          <a:stretch>
            <a:fillRect/>
          </a:stretch>
        </p:blipFill>
        <p:spPr>
          <a:xfrm>
            <a:off x="2729484" y="3525012"/>
            <a:ext cx="192024" cy="192024"/>
          </a:xfrm>
          <a:prstGeom prst="rect">
            <a:avLst/>
          </a:prstGeom>
        </p:spPr>
      </p:pic>
      <p:sp>
        <p:nvSpPr>
          <p:cNvPr id="32" name="Text 24"/>
          <p:cNvSpPr txBox="1"/>
          <p:nvPr/>
        </p:nvSpPr>
        <p:spPr>
          <a:xfrm>
            <a:off x="3090672" y="3429000"/>
            <a:ext cx="1371600" cy="384048"/>
          </a:xfrm>
          <a:prstGeom prst="rect">
            <a:avLst/>
          </a:prstGeom>
          <a:noFill/>
          <a:ln/>
        </p:spPr>
        <p:txBody>
          <a:bodyPr wrap="square" lIns="0" tIns="0" rIns="0" bIns="0" rtlCol="0" anchor="ctr"/>
          <a:lstStyle/>
          <a:p>
            <a:pPr indent="0" marL="0">
              <a:buNone/>
            </a:pPr>
            <a:r>
              <a:rPr lang="en-US" sz="1200" b="1" dirty="0">
                <a:solidFill>
                  <a:srgbClr val="2E1065"/>
                </a:solidFill>
                <a:latin typeface="Calibri" pitchFamily="34" charset="0"/>
                <a:ea typeface="Calibri" pitchFamily="34" charset="-122"/>
                <a:cs typeface="Calibri" pitchFamily="34" charset="-120"/>
              </a:rPr>
              <a:t>Adaptive Difficulty</a:t>
            </a:r>
            <a:endParaRPr lang="en-US" sz="1200" dirty="0"/>
          </a:p>
        </p:txBody>
      </p:sp>
      <p:sp>
        <p:nvSpPr>
          <p:cNvPr id="33" name="Text 25"/>
          <p:cNvSpPr txBox="1"/>
          <p:nvPr/>
        </p:nvSpPr>
        <p:spPr>
          <a:xfrm>
            <a:off x="2651760" y="3931920"/>
            <a:ext cx="1783080" cy="594360"/>
          </a:xfrm>
          <a:prstGeom prst="rect">
            <a:avLst/>
          </a:prstGeom>
          <a:noFill/>
          <a:ln/>
        </p:spPr>
        <p:txBody>
          <a:bodyPr wrap="square" lIns="0" tIns="0" rIns="0" bIns="0" rtlCol="0" anchor="t"/>
          <a:lstStyle/>
          <a:p>
            <a:pPr indent="0" marL="0">
              <a:buNone/>
            </a:pPr>
            <a:r>
              <a:rPr lang="en-US" sz="1100" dirty="0">
                <a:solidFill>
                  <a:srgbClr val="6B6488"/>
                </a:solidFill>
                <a:latin typeface="Calibri" pitchFamily="34" charset="0"/>
                <a:ea typeface="Calibri" pitchFamily="34" charset="-122"/>
                <a:cs typeface="Calibri" pitchFamily="34" charset="-120"/>
              </a:rPr>
              <a:t>struggle detected: MEDIUM -&gt; EASY</a:t>
            </a:r>
            <a:endParaRPr lang="en-US" sz="1100" dirty="0"/>
          </a:p>
        </p:txBody>
      </p:sp>
      <p:sp>
        <p:nvSpPr>
          <p:cNvPr id="34" name="Shape 26"/>
          <p:cNvSpPr/>
          <p:nvPr/>
        </p:nvSpPr>
        <p:spPr>
          <a:xfrm>
            <a:off x="4626864" y="3337560"/>
            <a:ext cx="1965960" cy="1234440"/>
          </a:xfrm>
          <a:prstGeom prst="roundRect">
            <a:avLst>
              <a:gd name="adj" fmla="val 7407"/>
            </a:avLst>
          </a:prstGeom>
          <a:solidFill>
            <a:srgbClr val="FFFFFF"/>
          </a:solidFill>
          <a:ln w="15875">
            <a:solidFill>
              <a:srgbClr val="A78BFA"/>
            </a:solidFill>
            <a:prstDash val="dash"/>
          </a:ln>
        </p:spPr>
      </p:sp>
      <p:sp>
        <p:nvSpPr>
          <p:cNvPr id="35" name="Shape 27"/>
          <p:cNvSpPr/>
          <p:nvPr/>
        </p:nvSpPr>
        <p:spPr>
          <a:xfrm>
            <a:off x="4718304" y="3429000"/>
            <a:ext cx="384048" cy="384048"/>
          </a:xfrm>
          <a:prstGeom prst="ellipse">
            <a:avLst/>
          </a:prstGeom>
          <a:solidFill>
            <a:srgbClr val="6D28D9"/>
          </a:solidFill>
          <a:ln w="12700">
            <a:solidFill>
              <a:srgbClr val="6D28D9"/>
            </a:solidFill>
            <a:prstDash val="solid"/>
          </a:ln>
        </p:spPr>
      </p:sp>
      <p:pic>
        <p:nvPicPr>
          <p:cNvPr id="36" name="Image 6" descr="preencoded.png">    </p:cNvPr>
          <p:cNvPicPr>
            <a:picLocks noChangeAspect="1"/>
          </p:cNvPicPr>
          <p:nvPr/>
        </p:nvPicPr>
        <p:blipFill>
          <a:blip r:embed="rId7"/>
          <a:stretch>
            <a:fillRect/>
          </a:stretch>
        </p:blipFill>
        <p:spPr>
          <a:xfrm>
            <a:off x="4814316" y="3525012"/>
            <a:ext cx="192024" cy="192024"/>
          </a:xfrm>
          <a:prstGeom prst="rect">
            <a:avLst/>
          </a:prstGeom>
        </p:spPr>
      </p:pic>
      <p:sp>
        <p:nvSpPr>
          <p:cNvPr id="37" name="Text 28"/>
          <p:cNvSpPr txBox="1"/>
          <p:nvPr/>
        </p:nvSpPr>
        <p:spPr>
          <a:xfrm>
            <a:off x="5175504" y="3429000"/>
            <a:ext cx="1371600" cy="384048"/>
          </a:xfrm>
          <a:prstGeom prst="rect">
            <a:avLst/>
          </a:prstGeom>
          <a:noFill/>
          <a:ln/>
        </p:spPr>
        <p:txBody>
          <a:bodyPr wrap="square" lIns="0" tIns="0" rIns="0" bIns="0" rtlCol="0" anchor="ctr"/>
          <a:lstStyle/>
          <a:p>
            <a:pPr indent="0" marL="0">
              <a:buNone/>
            </a:pPr>
            <a:r>
              <a:rPr lang="en-US" sz="1200" b="1" dirty="0">
                <a:solidFill>
                  <a:srgbClr val="2E1065"/>
                </a:solidFill>
                <a:latin typeface="Calibri" pitchFamily="34" charset="0"/>
                <a:ea typeface="Calibri" pitchFamily="34" charset="-122"/>
                <a:cs typeface="Calibri" pitchFamily="34" charset="-120"/>
              </a:rPr>
              <a:t>Hint System</a:t>
            </a:r>
            <a:endParaRPr lang="en-US" sz="1200" dirty="0"/>
          </a:p>
        </p:txBody>
      </p:sp>
      <p:sp>
        <p:nvSpPr>
          <p:cNvPr id="38" name="Text 29"/>
          <p:cNvSpPr txBox="1"/>
          <p:nvPr/>
        </p:nvSpPr>
        <p:spPr>
          <a:xfrm>
            <a:off x="4736592" y="3931920"/>
            <a:ext cx="1783080" cy="594360"/>
          </a:xfrm>
          <a:prstGeom prst="rect">
            <a:avLst/>
          </a:prstGeom>
          <a:noFill/>
          <a:ln/>
        </p:spPr>
        <p:txBody>
          <a:bodyPr wrap="square" lIns="0" tIns="0" rIns="0" bIns="0" rtlCol="0" anchor="t"/>
          <a:lstStyle/>
          <a:p>
            <a:pPr indent="0" marL="0">
              <a:buNone/>
            </a:pPr>
            <a:r>
              <a:rPr lang="en-US" sz="1100" dirty="0">
                <a:solidFill>
                  <a:srgbClr val="6B6488"/>
                </a:solidFill>
                <a:latin typeface="Calibri" pitchFamily="34" charset="0"/>
                <a:ea typeface="Calibri" pitchFamily="34" charset="-122"/>
                <a:cs typeface="Calibri" pitchFamily="34" charset="-120"/>
              </a:rPr>
              <a:t>limited hints, +1 extra when struggling</a:t>
            </a:r>
            <a:endParaRPr lang="en-US" sz="1100" dirty="0"/>
          </a:p>
        </p:txBody>
      </p:sp>
      <p:sp>
        <p:nvSpPr>
          <p:cNvPr id="39" name="Shape 30"/>
          <p:cNvSpPr/>
          <p:nvPr/>
        </p:nvSpPr>
        <p:spPr>
          <a:xfrm>
            <a:off x="6711696" y="3337560"/>
            <a:ext cx="1965960" cy="1234440"/>
          </a:xfrm>
          <a:prstGeom prst="roundRect">
            <a:avLst>
              <a:gd name="adj" fmla="val 7407"/>
            </a:avLst>
          </a:prstGeom>
          <a:solidFill>
            <a:srgbClr val="FFFFFF"/>
          </a:solidFill>
          <a:ln w="15875">
            <a:solidFill>
              <a:srgbClr val="A78BFA"/>
            </a:solidFill>
            <a:prstDash val="dash"/>
          </a:ln>
        </p:spPr>
      </p:sp>
      <p:sp>
        <p:nvSpPr>
          <p:cNvPr id="40" name="Shape 31"/>
          <p:cNvSpPr/>
          <p:nvPr/>
        </p:nvSpPr>
        <p:spPr>
          <a:xfrm>
            <a:off x="6803136" y="3429000"/>
            <a:ext cx="384048" cy="384048"/>
          </a:xfrm>
          <a:prstGeom prst="ellipse">
            <a:avLst/>
          </a:prstGeom>
          <a:solidFill>
            <a:srgbClr val="6D28D9"/>
          </a:solidFill>
          <a:ln w="12700">
            <a:solidFill>
              <a:srgbClr val="6D28D9"/>
            </a:solidFill>
            <a:prstDash val="solid"/>
          </a:ln>
        </p:spPr>
      </p:sp>
      <p:pic>
        <p:nvPicPr>
          <p:cNvPr id="41" name="Image 7" descr="preencoded.png">    </p:cNvPr>
          <p:cNvPicPr>
            <a:picLocks noChangeAspect="1"/>
          </p:cNvPicPr>
          <p:nvPr/>
        </p:nvPicPr>
        <p:blipFill>
          <a:blip r:embed="rId8"/>
          <a:stretch>
            <a:fillRect/>
          </a:stretch>
        </p:blipFill>
        <p:spPr>
          <a:xfrm>
            <a:off x="6899148" y="3525012"/>
            <a:ext cx="192024" cy="192024"/>
          </a:xfrm>
          <a:prstGeom prst="rect">
            <a:avLst/>
          </a:prstGeom>
        </p:spPr>
      </p:pic>
      <p:sp>
        <p:nvSpPr>
          <p:cNvPr id="42" name="Text 32"/>
          <p:cNvSpPr txBox="1"/>
          <p:nvPr/>
        </p:nvSpPr>
        <p:spPr>
          <a:xfrm>
            <a:off x="7260336" y="3429000"/>
            <a:ext cx="1371600" cy="384048"/>
          </a:xfrm>
          <a:prstGeom prst="rect">
            <a:avLst/>
          </a:prstGeom>
          <a:noFill/>
          <a:ln/>
        </p:spPr>
        <p:txBody>
          <a:bodyPr wrap="square" lIns="0" tIns="0" rIns="0" bIns="0" rtlCol="0" anchor="ctr"/>
          <a:lstStyle/>
          <a:p>
            <a:pPr indent="0" marL="0">
              <a:buNone/>
            </a:pPr>
            <a:r>
              <a:rPr lang="en-US" sz="1200" b="1" dirty="0">
                <a:solidFill>
                  <a:srgbClr val="2E1065"/>
                </a:solidFill>
                <a:latin typeface="Calibri" pitchFamily="34" charset="0"/>
                <a:ea typeface="Calibri" pitchFamily="34" charset="-122"/>
                <a:cs typeface="Calibri" pitchFamily="34" charset="-120"/>
              </a:rPr>
              <a:t>AI Status Panel</a:t>
            </a:r>
            <a:endParaRPr lang="en-US" sz="1200" dirty="0"/>
          </a:p>
        </p:txBody>
      </p:sp>
      <p:sp>
        <p:nvSpPr>
          <p:cNvPr id="43" name="Text 33"/>
          <p:cNvSpPr txBox="1"/>
          <p:nvPr/>
        </p:nvSpPr>
        <p:spPr>
          <a:xfrm>
            <a:off x="6821424" y="3931920"/>
            <a:ext cx="1783080" cy="594360"/>
          </a:xfrm>
          <a:prstGeom prst="rect">
            <a:avLst/>
          </a:prstGeom>
          <a:noFill/>
          <a:ln/>
        </p:spPr>
        <p:txBody>
          <a:bodyPr wrap="square" lIns="0" tIns="0" rIns="0" bIns="0" rtlCol="0" anchor="t"/>
          <a:lstStyle/>
          <a:p>
            <a:pPr indent="0" marL="0">
              <a:buNone/>
            </a:pPr>
            <a:r>
              <a:rPr lang="en-US" sz="1100" dirty="0">
                <a:solidFill>
                  <a:srgbClr val="6B6488"/>
                </a:solidFill>
                <a:latin typeface="Calibri" pitchFamily="34" charset="0"/>
                <a:ea typeface="Calibri" pitchFamily="34" charset="-122"/>
                <a:cs typeface="Calibri" pitchFamily="34" charset="-120"/>
              </a:rPr>
              <a:t>backtracks, constraint checks, log</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498080" cy="548640"/>
          </a:xfrm>
          <a:prstGeom prst="rect">
            <a:avLst/>
          </a:prstGeom>
          <a:noFill/>
          <a:ln/>
        </p:spPr>
        <p:txBody>
          <a:bodyPr wrap="square" lIns="0" tIns="0" rIns="0" bIns="0" rtlCol="0" anchor="ctr"/>
          <a:lstStyle/>
          <a:p>
            <a:pPr indent="0" marL="0">
              <a:buNone/>
            </a:pPr>
            <a:r>
              <a:rPr lang="en-US" sz="3000" b="1" dirty="0">
                <a:solidFill>
                  <a:srgbClr val="2E1065"/>
                </a:solidFill>
                <a:latin typeface="Cambria" pitchFamily="34" charset="0"/>
                <a:ea typeface="Cambria" pitchFamily="34" charset="-122"/>
                <a:cs typeface="Cambria" pitchFamily="34" charset="-120"/>
              </a:rPr>
              <a:t>Output 1: Start Screen and Number Lock</a:t>
            </a:r>
            <a:endParaRPr lang="en-US" sz="3000" dirty="0"/>
          </a:p>
        </p:txBody>
      </p:sp>
      <p:sp>
        <p:nvSpPr>
          <p:cNvPr id="3" name="Shape 1"/>
          <p:cNvSpPr/>
          <p:nvPr/>
        </p:nvSpPr>
        <p:spPr>
          <a:xfrm>
            <a:off x="493776" y="859536"/>
            <a:ext cx="3858768" cy="2442722"/>
          </a:xfrm>
          <a:prstGeom prst="roundRect">
            <a:avLst>
              <a:gd name="adj" fmla="val 2995"/>
            </a:avLst>
          </a:prstGeom>
          <a:solidFill>
            <a:srgbClr val="FFFFFF"/>
          </a:solidFill>
          <a:ln w="15875">
            <a:solidFill>
              <a:srgbClr val="A78BFA"/>
            </a:solidFill>
            <a:prstDash val="dash"/>
          </a:ln>
        </p:spPr>
      </p:sp>
      <p:pic>
        <p:nvPicPr>
          <p:cNvPr id="4" name="Image 0" descr="s_start.png">    </p:cNvPr>
          <p:cNvPicPr>
            <a:picLocks noChangeAspect="1"/>
          </p:cNvPicPr>
          <p:nvPr/>
        </p:nvPicPr>
        <p:blipFill>
          <a:blip r:embed="rId1"/>
          <a:stretch>
            <a:fillRect/>
          </a:stretch>
        </p:blipFill>
        <p:spPr>
          <a:xfrm>
            <a:off x="548640" y="914400"/>
            <a:ext cx="3749040" cy="2332994"/>
          </a:xfrm>
          <a:prstGeom prst="rect">
            <a:avLst/>
          </a:prstGeom>
        </p:spPr>
      </p:pic>
      <p:sp>
        <p:nvSpPr>
          <p:cNvPr id="5" name="Shape 2"/>
          <p:cNvSpPr/>
          <p:nvPr/>
        </p:nvSpPr>
        <p:spPr>
          <a:xfrm>
            <a:off x="4791456" y="859536"/>
            <a:ext cx="3858768" cy="2210583"/>
          </a:xfrm>
          <a:prstGeom prst="roundRect">
            <a:avLst>
              <a:gd name="adj" fmla="val 3309"/>
            </a:avLst>
          </a:prstGeom>
          <a:solidFill>
            <a:srgbClr val="FFFFFF"/>
          </a:solidFill>
          <a:ln w="15875">
            <a:solidFill>
              <a:srgbClr val="A78BFA"/>
            </a:solidFill>
            <a:prstDash val="dash"/>
          </a:ln>
        </p:spPr>
      </p:sp>
      <p:pic>
        <p:nvPicPr>
          <p:cNvPr id="6" name="Image 1" descr="s_p1.png">    </p:cNvPr>
          <p:cNvPicPr>
            <a:picLocks noChangeAspect="1"/>
          </p:cNvPicPr>
          <p:nvPr/>
        </p:nvPicPr>
        <p:blipFill>
          <a:blip r:embed="rId2"/>
          <a:stretch>
            <a:fillRect/>
          </a:stretch>
        </p:blipFill>
        <p:spPr>
          <a:xfrm>
            <a:off x="4846320" y="914400"/>
            <a:ext cx="3749040" cy="2100855"/>
          </a:xfrm>
          <a:prstGeom prst="rect">
            <a:avLst/>
          </a:prstGeom>
        </p:spPr>
      </p:pic>
      <p:sp>
        <p:nvSpPr>
          <p:cNvPr id="7" name="Shape 3"/>
          <p:cNvSpPr/>
          <p:nvPr/>
        </p:nvSpPr>
        <p:spPr>
          <a:xfrm>
            <a:off x="457200" y="3520440"/>
            <a:ext cx="3931920" cy="1188720"/>
          </a:xfrm>
          <a:prstGeom prst="roundRect">
            <a:avLst>
              <a:gd name="adj" fmla="val 7692"/>
            </a:avLst>
          </a:prstGeom>
          <a:solidFill>
            <a:srgbClr val="FEF3C7"/>
          </a:solidFill>
          <a:ln w="15875">
            <a:solidFill>
              <a:srgbClr val="FBBF24"/>
            </a:solidFill>
            <a:prstDash val="dash"/>
          </a:ln>
        </p:spPr>
      </p:sp>
      <p:sp>
        <p:nvSpPr>
          <p:cNvPr id="8" name="Text 4"/>
          <p:cNvSpPr txBox="1"/>
          <p:nvPr/>
        </p:nvSpPr>
        <p:spPr>
          <a:xfrm>
            <a:off x="594360" y="3566160"/>
            <a:ext cx="3657600" cy="1097280"/>
          </a:xfrm>
          <a:prstGeom prst="rect">
            <a:avLst/>
          </a:prstGeom>
          <a:noFill/>
          <a:ln/>
        </p:spPr>
        <p:txBody>
          <a:bodyPr wrap="square" lIns="0" tIns="0" rIns="0" bIns="0" rtlCol="0" anchor="t"/>
          <a:lstStyle/>
          <a:p>
            <a:pPr indent="0" marL="0">
              <a:buNone/>
            </a:pPr>
            <a:r>
              <a:rPr lang="en-US" sz="1100" b="1" dirty="0">
                <a:solidFill>
                  <a:srgbClr val="2E1065"/>
                </a:solidFill>
                <a:latin typeface="Calibri" pitchFamily="34" charset="0"/>
                <a:ea typeface="Calibri" pitchFamily="34" charset="-122"/>
                <a:cs typeface="Calibri" pitchFamily="34" charset="-120"/>
              </a:rPr>
              <a:t>Start screen</a:t>
            </a:r>
            <a:endParaRPr lang="en-US" sz="1100" dirty="0"/>
          </a:p>
          <a:p>
            <a:pPr marL="342900" indent="-342900">
              <a:buSzPct val="100000"/>
              <a:buChar char="•"/>
            </a:pPr>
            <a:r>
              <a:rPr lang="en-US" sz="1100" dirty="0">
                <a:solidFill>
                  <a:srgbClr val="1F1B2E"/>
                </a:solidFill>
                <a:latin typeface="Calibri" pitchFamily="34" charset="0"/>
                <a:ea typeface="Calibri" pitchFamily="34" charset="-122"/>
                <a:cs typeface="Calibri" pitchFamily="34" charset="-120"/>
              </a:rPr>
              <a:t>Shows the AI algorithm used (CSP + Backtracking)</a:t>
            </a:r>
            <a:endParaRPr lang="en-US" sz="1100" dirty="0"/>
          </a:p>
          <a:p>
            <a:pPr marL="342900" indent="-342900">
              <a:buSzPct val="100000"/>
              <a:buChar char="•"/>
            </a:pPr>
            <a:r>
              <a:rPr lang="en-US" sz="1100" dirty="0">
                <a:solidFill>
                  <a:srgbClr val="1F1B2E"/>
                </a:solidFill>
                <a:latin typeface="Calibri" pitchFamily="34" charset="0"/>
                <a:ea typeface="Calibri" pitchFamily="34" charset="-122"/>
                <a:cs typeface="Calibri" pitchFamily="34" charset="-120"/>
              </a:rPr>
              <a:t>"How does the AI work?" explains the method</a:t>
            </a:r>
            <a:endParaRPr lang="en-US" sz="1100" dirty="0"/>
          </a:p>
          <a:p>
            <a:pPr marL="342900" indent="-342900">
              <a:buSzPct val="100000"/>
              <a:buChar char="•"/>
            </a:pPr>
            <a:r>
              <a:rPr lang="en-US" sz="1100" dirty="0">
                <a:solidFill>
                  <a:srgbClr val="1F1B2E"/>
                </a:solidFill>
                <a:latin typeface="Calibri" pitchFamily="34" charset="0"/>
                <a:ea typeface="Calibri" pitchFamily="34" charset="-122"/>
                <a:cs typeface="Calibri" pitchFamily="34" charset="-120"/>
              </a:rPr>
              <a:t>"Enter the room" starts the timer</a:t>
            </a:r>
            <a:endParaRPr lang="en-US" sz="1100" dirty="0"/>
          </a:p>
        </p:txBody>
      </p:sp>
      <p:sp>
        <p:nvSpPr>
          <p:cNvPr id="9" name="Shape 5"/>
          <p:cNvSpPr/>
          <p:nvPr/>
        </p:nvSpPr>
        <p:spPr>
          <a:xfrm>
            <a:off x="4754880" y="3520440"/>
            <a:ext cx="3931920" cy="1188720"/>
          </a:xfrm>
          <a:prstGeom prst="roundRect">
            <a:avLst>
              <a:gd name="adj" fmla="val 7692"/>
            </a:avLst>
          </a:prstGeom>
          <a:solidFill>
            <a:srgbClr val="FEF3C7"/>
          </a:solidFill>
          <a:ln w="15875">
            <a:solidFill>
              <a:srgbClr val="FBBF24"/>
            </a:solidFill>
            <a:prstDash val="dash"/>
          </a:ln>
        </p:spPr>
      </p:sp>
      <p:sp>
        <p:nvSpPr>
          <p:cNvPr id="10" name="Text 6"/>
          <p:cNvSpPr txBox="1"/>
          <p:nvPr/>
        </p:nvSpPr>
        <p:spPr>
          <a:xfrm>
            <a:off x="4892040" y="3566160"/>
            <a:ext cx="3657600" cy="1097280"/>
          </a:xfrm>
          <a:prstGeom prst="rect">
            <a:avLst/>
          </a:prstGeom>
          <a:noFill/>
          <a:ln/>
        </p:spPr>
        <p:txBody>
          <a:bodyPr wrap="square" lIns="0" tIns="0" rIns="0" bIns="0" rtlCol="0" anchor="t"/>
          <a:lstStyle/>
          <a:p>
            <a:pPr indent="0" marL="0">
              <a:buNone/>
            </a:pPr>
            <a:r>
              <a:rPr lang="en-US" sz="1100" b="1" dirty="0">
                <a:solidFill>
                  <a:srgbClr val="2E1065"/>
                </a:solidFill>
                <a:latin typeface="Calibri" pitchFamily="34" charset="0"/>
                <a:ea typeface="Calibri" pitchFamily="34" charset="-122"/>
                <a:cs typeface="Calibri" pitchFamily="34" charset="-120"/>
              </a:rPr>
              <a:t>Puzzle 1: Number Lock</a:t>
            </a:r>
            <a:endParaRPr lang="en-US" sz="1100" dirty="0"/>
          </a:p>
          <a:p>
            <a:pPr marL="342900" indent="-342900">
              <a:buSzPct val="100000"/>
              <a:buChar char="•"/>
            </a:pPr>
            <a:r>
              <a:rPr lang="en-US" sz="1100" dirty="0">
                <a:solidFill>
                  <a:srgbClr val="1F1B2E"/>
                </a:solidFill>
                <a:latin typeface="Calibri" pitchFamily="34" charset="0"/>
                <a:ea typeface="Calibri" pitchFamily="34" charset="-122"/>
                <a:cs typeface="Calibri" pitchFamily="34" charset="-120"/>
              </a:rPr>
              <a:t>Clues: no repeated digit, even / greater-than rules</a:t>
            </a:r>
            <a:endParaRPr lang="en-US" sz="1100" dirty="0"/>
          </a:p>
          <a:p>
            <a:pPr marL="342900" indent="-342900">
              <a:buSzPct val="100000"/>
              <a:buChar char="•"/>
            </a:pPr>
            <a:r>
              <a:rPr lang="en-US" sz="1100" dirty="0">
                <a:solidFill>
                  <a:srgbClr val="1F1B2E"/>
                </a:solidFill>
                <a:latin typeface="Calibri" pitchFamily="34" charset="0"/>
                <a:ea typeface="Calibri" pitchFamily="34" charset="-122"/>
                <a:cs typeface="Calibri" pitchFamily="34" charset="-120"/>
              </a:rPr>
              <a:t>Status: 157 backtracks, 2282 constraint checks</a:t>
            </a:r>
            <a:endParaRPr lang="en-US" sz="1100" dirty="0"/>
          </a:p>
          <a:p>
            <a:pPr marL="342900" indent="-342900">
              <a:buSzPct val="100000"/>
              <a:buChar char="•"/>
            </a:pPr>
            <a:r>
              <a:rPr lang="en-US" sz="1100" dirty="0">
                <a:solidFill>
                  <a:srgbClr val="1F1B2E"/>
                </a:solidFill>
                <a:latin typeface="Calibri" pitchFamily="34" charset="0"/>
                <a:ea typeface="Calibri" pitchFamily="34" charset="-122"/>
                <a:cs typeface="Calibri" pitchFamily="34" charset="-120"/>
              </a:rPr>
              <a:t>Inventory and timer shown live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498080" cy="548640"/>
          </a:xfrm>
          <a:prstGeom prst="rect">
            <a:avLst/>
          </a:prstGeom>
          <a:noFill/>
          <a:ln/>
        </p:spPr>
        <p:txBody>
          <a:bodyPr wrap="square" lIns="0" tIns="0" rIns="0" bIns="0" rtlCol="0" anchor="ctr"/>
          <a:lstStyle/>
          <a:p>
            <a:pPr indent="0" marL="0">
              <a:buNone/>
            </a:pPr>
            <a:r>
              <a:rPr lang="en-US" sz="3000" b="1" dirty="0">
                <a:solidFill>
                  <a:srgbClr val="2E1065"/>
                </a:solidFill>
                <a:latin typeface="Cambria" pitchFamily="34" charset="0"/>
                <a:ea typeface="Cambria" pitchFamily="34" charset="-122"/>
                <a:cs typeface="Cambria" pitchFamily="34" charset="-120"/>
              </a:rPr>
              <a:t>Output 2: Objects and Logic Doors</a:t>
            </a:r>
            <a:endParaRPr lang="en-US" sz="3000" dirty="0"/>
          </a:p>
        </p:txBody>
      </p:sp>
      <p:sp>
        <p:nvSpPr>
          <p:cNvPr id="3" name="Shape 1"/>
          <p:cNvSpPr/>
          <p:nvPr/>
        </p:nvSpPr>
        <p:spPr>
          <a:xfrm>
            <a:off x="493776" y="859536"/>
            <a:ext cx="3675888" cy="2196428"/>
          </a:xfrm>
          <a:prstGeom prst="roundRect">
            <a:avLst>
              <a:gd name="adj" fmla="val 3330"/>
            </a:avLst>
          </a:prstGeom>
          <a:solidFill>
            <a:srgbClr val="FFFFFF"/>
          </a:solidFill>
          <a:ln w="15875">
            <a:solidFill>
              <a:srgbClr val="A78BFA"/>
            </a:solidFill>
            <a:prstDash val="dash"/>
          </a:ln>
        </p:spPr>
      </p:sp>
      <p:pic>
        <p:nvPicPr>
          <p:cNvPr id="4" name="Image 0" descr="s_p2.png">    </p:cNvPr>
          <p:cNvPicPr>
            <a:picLocks noChangeAspect="1"/>
          </p:cNvPicPr>
          <p:nvPr/>
        </p:nvPicPr>
        <p:blipFill>
          <a:blip r:embed="rId1"/>
          <a:stretch>
            <a:fillRect/>
          </a:stretch>
        </p:blipFill>
        <p:spPr>
          <a:xfrm>
            <a:off x="548640" y="914400"/>
            <a:ext cx="3566160" cy="2086700"/>
          </a:xfrm>
          <a:prstGeom prst="rect">
            <a:avLst/>
          </a:prstGeom>
        </p:spPr>
      </p:pic>
      <p:sp>
        <p:nvSpPr>
          <p:cNvPr id="5" name="Shape 2"/>
          <p:cNvSpPr/>
          <p:nvPr/>
        </p:nvSpPr>
        <p:spPr>
          <a:xfrm>
            <a:off x="4517136" y="859536"/>
            <a:ext cx="4133088" cy="2183911"/>
          </a:xfrm>
          <a:prstGeom prst="roundRect">
            <a:avLst>
              <a:gd name="adj" fmla="val 3350"/>
            </a:avLst>
          </a:prstGeom>
          <a:solidFill>
            <a:srgbClr val="FFFFFF"/>
          </a:solidFill>
          <a:ln w="15875">
            <a:solidFill>
              <a:srgbClr val="A78BFA"/>
            </a:solidFill>
            <a:prstDash val="dash"/>
          </a:ln>
        </p:spPr>
      </p:sp>
      <p:pic>
        <p:nvPicPr>
          <p:cNvPr id="6" name="Image 1" descr="s_p3.png">    </p:cNvPr>
          <p:cNvPicPr>
            <a:picLocks noChangeAspect="1"/>
          </p:cNvPicPr>
          <p:nvPr/>
        </p:nvPicPr>
        <p:blipFill>
          <a:blip r:embed="rId2"/>
          <a:stretch>
            <a:fillRect/>
          </a:stretch>
        </p:blipFill>
        <p:spPr>
          <a:xfrm>
            <a:off x="4572000" y="914400"/>
            <a:ext cx="4023360" cy="2074183"/>
          </a:xfrm>
          <a:prstGeom prst="rect">
            <a:avLst/>
          </a:prstGeom>
        </p:spPr>
      </p:pic>
      <p:sp>
        <p:nvSpPr>
          <p:cNvPr id="7" name="Shape 3"/>
          <p:cNvSpPr/>
          <p:nvPr/>
        </p:nvSpPr>
        <p:spPr>
          <a:xfrm>
            <a:off x="457200" y="3566160"/>
            <a:ext cx="3840480" cy="1143000"/>
          </a:xfrm>
          <a:prstGeom prst="roundRect">
            <a:avLst>
              <a:gd name="adj" fmla="val 8000"/>
            </a:avLst>
          </a:prstGeom>
          <a:solidFill>
            <a:srgbClr val="FEF3C7"/>
          </a:solidFill>
          <a:ln w="15875">
            <a:solidFill>
              <a:srgbClr val="FBBF24"/>
            </a:solidFill>
            <a:prstDash val="dash"/>
          </a:ln>
        </p:spPr>
      </p:sp>
      <p:sp>
        <p:nvSpPr>
          <p:cNvPr id="8" name="Text 4"/>
          <p:cNvSpPr txBox="1"/>
          <p:nvPr/>
        </p:nvSpPr>
        <p:spPr>
          <a:xfrm>
            <a:off x="594360" y="3611880"/>
            <a:ext cx="3566160" cy="1051560"/>
          </a:xfrm>
          <a:prstGeom prst="rect">
            <a:avLst/>
          </a:prstGeom>
          <a:noFill/>
          <a:ln/>
        </p:spPr>
        <p:txBody>
          <a:bodyPr wrap="square" lIns="0" tIns="0" rIns="0" bIns="0" rtlCol="0" anchor="t"/>
          <a:lstStyle/>
          <a:p>
            <a:pPr indent="0" marL="0">
              <a:buNone/>
            </a:pPr>
            <a:r>
              <a:rPr lang="en-US" sz="1100" b="1" dirty="0">
                <a:solidFill>
                  <a:srgbClr val="2E1065"/>
                </a:solidFill>
                <a:latin typeface="Calibri" pitchFamily="34" charset="0"/>
                <a:ea typeface="Calibri" pitchFamily="34" charset="-122"/>
                <a:cs typeface="Calibri" pitchFamily="34" charset="-120"/>
              </a:rPr>
              <a:t>Puzzle 2: Object Arrangement</a:t>
            </a:r>
            <a:endParaRPr lang="en-US" sz="1100" dirty="0"/>
          </a:p>
          <a:p>
            <a:pPr marL="342900" indent="-342900">
              <a:buSzPct val="100000"/>
              <a:buChar char="•"/>
            </a:pPr>
            <a:r>
              <a:rPr lang="en-US" sz="1100" dirty="0">
                <a:solidFill>
                  <a:srgbClr val="1F1B2E"/>
                </a:solidFill>
                <a:latin typeface="Calibri" pitchFamily="34" charset="0"/>
                <a:ea typeface="Calibri" pitchFamily="34" charset="-122"/>
                <a:cs typeface="Calibri" pitchFamily="34" charset="-120"/>
              </a:rPr>
              <a:t>Order rules (before) and adjacency rules (not next to)</a:t>
            </a:r>
            <a:endParaRPr lang="en-US" sz="1100" dirty="0"/>
          </a:p>
          <a:p>
            <a:pPr marL="342900" indent="-342900">
              <a:buSzPct val="100000"/>
              <a:buChar char="•"/>
            </a:pPr>
            <a:r>
              <a:rPr lang="en-US" sz="1100" dirty="0">
                <a:solidFill>
                  <a:srgbClr val="1F1B2E"/>
                </a:solidFill>
                <a:latin typeface="Calibri" pitchFamily="34" charset="0"/>
                <a:ea typeface="Calibri" pitchFamily="34" charset="-122"/>
                <a:cs typeface="Calibri" pitchFamily="34" charset="-120"/>
              </a:rPr>
              <a:t>Lock code 6094 now in inventory</a:t>
            </a:r>
            <a:endParaRPr lang="en-US" sz="1100" dirty="0"/>
          </a:p>
          <a:p>
            <a:pPr marL="342900" indent="-342900">
              <a:buSzPct val="100000"/>
              <a:buChar char="•"/>
            </a:pPr>
            <a:r>
              <a:rPr lang="en-US" sz="1100" dirty="0">
                <a:solidFill>
                  <a:srgbClr val="1F1B2E"/>
                </a:solidFill>
                <a:latin typeface="Calibri" pitchFamily="34" charset="0"/>
                <a:ea typeface="Calibri" pitchFamily="34" charset="-122"/>
                <a:cs typeface="Calibri" pitchFamily="34" charset="-120"/>
              </a:rPr>
              <a:t>Status: 350 backtracks, 1858 checks</a:t>
            </a:r>
            <a:endParaRPr lang="en-US" sz="1100" dirty="0"/>
          </a:p>
        </p:txBody>
      </p:sp>
      <p:sp>
        <p:nvSpPr>
          <p:cNvPr id="9" name="Shape 5"/>
          <p:cNvSpPr/>
          <p:nvPr/>
        </p:nvSpPr>
        <p:spPr>
          <a:xfrm>
            <a:off x="4572000" y="3566160"/>
            <a:ext cx="4114800" cy="1143000"/>
          </a:xfrm>
          <a:prstGeom prst="roundRect">
            <a:avLst>
              <a:gd name="adj" fmla="val 8000"/>
            </a:avLst>
          </a:prstGeom>
          <a:solidFill>
            <a:srgbClr val="FEF3C7"/>
          </a:solidFill>
          <a:ln w="15875">
            <a:solidFill>
              <a:srgbClr val="FBBF24"/>
            </a:solidFill>
            <a:prstDash val="dash"/>
          </a:ln>
        </p:spPr>
      </p:sp>
      <p:sp>
        <p:nvSpPr>
          <p:cNvPr id="10" name="Text 6"/>
          <p:cNvSpPr txBox="1"/>
          <p:nvPr/>
        </p:nvSpPr>
        <p:spPr>
          <a:xfrm>
            <a:off x="4709160" y="3611880"/>
            <a:ext cx="3840480" cy="1051560"/>
          </a:xfrm>
          <a:prstGeom prst="rect">
            <a:avLst/>
          </a:prstGeom>
          <a:noFill/>
          <a:ln/>
        </p:spPr>
        <p:txBody>
          <a:bodyPr wrap="square" lIns="0" tIns="0" rIns="0" bIns="0" rtlCol="0" anchor="t"/>
          <a:lstStyle/>
          <a:p>
            <a:pPr indent="0" marL="0">
              <a:buNone/>
            </a:pPr>
            <a:r>
              <a:rPr lang="en-US" sz="1100" b="1" dirty="0">
                <a:solidFill>
                  <a:srgbClr val="2E1065"/>
                </a:solidFill>
                <a:latin typeface="Calibri" pitchFamily="34" charset="0"/>
                <a:ea typeface="Calibri" pitchFamily="34" charset="-122"/>
                <a:cs typeface="Calibri" pitchFamily="34" charset="-120"/>
              </a:rPr>
              <a:t>Puzzle 3: Logic Doors</a:t>
            </a:r>
            <a:endParaRPr lang="en-US" sz="1100" dirty="0"/>
          </a:p>
          <a:p>
            <a:pPr marL="342900" indent="-342900">
              <a:buSzPct val="100000"/>
              <a:buChar char="•"/>
            </a:pPr>
            <a:r>
              <a:rPr lang="en-US" sz="1100" dirty="0">
                <a:solidFill>
                  <a:srgbClr val="1F1B2E"/>
                </a:solidFill>
                <a:latin typeface="Calibri" pitchFamily="34" charset="0"/>
                <a:ea typeface="Calibri" pitchFamily="34" charset="-122"/>
                <a:cs typeface="Calibri" pitchFamily="34" charset="-120"/>
              </a:rPr>
              <a:t>Three signs, exactly one tells the truth</a:t>
            </a:r>
            <a:endParaRPr lang="en-US" sz="1100" dirty="0"/>
          </a:p>
          <a:p>
            <a:pPr marL="342900" indent="-342900">
              <a:buSzPct val="100000"/>
              <a:buChar char="•"/>
            </a:pPr>
            <a:r>
              <a:rPr lang="en-US" sz="1100" dirty="0">
                <a:solidFill>
                  <a:srgbClr val="1F1B2E"/>
                </a:solidFill>
                <a:latin typeface="Calibri" pitchFamily="34" charset="0"/>
                <a:ea typeface="Calibri" pitchFamily="34" charset="-122"/>
                <a:cs typeface="Calibri" pitchFamily="34" charset="-120"/>
              </a:rPr>
              <a:t>AI evaluated 3 possible exits; 1 is valid</a:t>
            </a:r>
            <a:endParaRPr lang="en-US" sz="1100" dirty="0"/>
          </a:p>
          <a:p>
            <a:pPr marL="342900" indent="-342900">
              <a:buSzPct val="100000"/>
              <a:buChar char="•"/>
            </a:pPr>
            <a:r>
              <a:rPr lang="en-US" sz="1100" dirty="0">
                <a:solidFill>
                  <a:srgbClr val="1F1B2E"/>
                </a:solidFill>
                <a:latin typeface="Calibri" pitchFamily="34" charset="0"/>
                <a:ea typeface="Calibri" pitchFamily="34" charset="-122"/>
                <a:cs typeface="Calibri" pitchFamily="34" charset="-120"/>
              </a:rPr>
              <a:t>Hint button (2 left) helps the player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498080" cy="548640"/>
          </a:xfrm>
          <a:prstGeom prst="rect">
            <a:avLst/>
          </a:prstGeom>
          <a:noFill/>
          <a:ln/>
        </p:spPr>
        <p:txBody>
          <a:bodyPr wrap="square" lIns="0" tIns="0" rIns="0" bIns="0" rtlCol="0" anchor="ctr"/>
          <a:lstStyle/>
          <a:p>
            <a:pPr indent="0" marL="0">
              <a:buNone/>
            </a:pPr>
            <a:r>
              <a:rPr lang="en-US" sz="3000" b="1" dirty="0">
                <a:solidFill>
                  <a:srgbClr val="2E1065"/>
                </a:solidFill>
                <a:latin typeface="Cambria" pitchFamily="34" charset="0"/>
                <a:ea typeface="Cambria" pitchFamily="34" charset="-122"/>
                <a:cs typeface="Cambria" pitchFamily="34" charset="-120"/>
              </a:rPr>
              <a:t>Output 3: AI Status and Adaptive Difficulty</a:t>
            </a:r>
            <a:endParaRPr lang="en-US" sz="3000" dirty="0"/>
          </a:p>
        </p:txBody>
      </p:sp>
      <p:sp>
        <p:nvSpPr>
          <p:cNvPr id="3" name="Shape 1"/>
          <p:cNvSpPr/>
          <p:nvPr/>
        </p:nvSpPr>
        <p:spPr>
          <a:xfrm>
            <a:off x="676656" y="950976"/>
            <a:ext cx="1938528" cy="3086844"/>
          </a:xfrm>
          <a:prstGeom prst="roundRect">
            <a:avLst>
              <a:gd name="adj" fmla="val 3774"/>
            </a:avLst>
          </a:prstGeom>
          <a:solidFill>
            <a:srgbClr val="FFFFFF"/>
          </a:solidFill>
          <a:ln w="15875">
            <a:solidFill>
              <a:srgbClr val="A78BFA"/>
            </a:solidFill>
            <a:prstDash val="dash"/>
          </a:ln>
        </p:spPr>
      </p:sp>
      <p:pic>
        <p:nvPicPr>
          <p:cNvPr id="4" name="Image 0" descr="s_status3.png">    </p:cNvPr>
          <p:cNvPicPr>
            <a:picLocks noChangeAspect="1"/>
          </p:cNvPicPr>
          <p:nvPr/>
        </p:nvPicPr>
        <p:blipFill>
          <a:blip r:embed="rId1"/>
          <a:stretch>
            <a:fillRect/>
          </a:stretch>
        </p:blipFill>
        <p:spPr>
          <a:xfrm>
            <a:off x="731520" y="1005840"/>
            <a:ext cx="1828800" cy="2977116"/>
          </a:xfrm>
          <a:prstGeom prst="rect">
            <a:avLst/>
          </a:prstGeom>
        </p:spPr>
      </p:pic>
      <p:sp>
        <p:nvSpPr>
          <p:cNvPr id="5" name="Shape 2"/>
          <p:cNvSpPr/>
          <p:nvPr/>
        </p:nvSpPr>
        <p:spPr>
          <a:xfrm>
            <a:off x="3054096" y="950976"/>
            <a:ext cx="1847088" cy="2392538"/>
          </a:xfrm>
          <a:prstGeom prst="roundRect">
            <a:avLst>
              <a:gd name="adj" fmla="val 3960"/>
            </a:avLst>
          </a:prstGeom>
          <a:solidFill>
            <a:srgbClr val="FFFFFF"/>
          </a:solidFill>
          <a:ln w="15875">
            <a:solidFill>
              <a:srgbClr val="A78BFA"/>
            </a:solidFill>
            <a:prstDash val="dash"/>
          </a:ln>
        </p:spPr>
      </p:sp>
      <p:pic>
        <p:nvPicPr>
          <p:cNvPr id="6" name="Image 1" descr="s_status2.png">    </p:cNvPr>
          <p:cNvPicPr>
            <a:picLocks noChangeAspect="1"/>
          </p:cNvPicPr>
          <p:nvPr/>
        </p:nvPicPr>
        <p:blipFill>
          <a:blip r:embed="rId2"/>
          <a:stretch>
            <a:fillRect/>
          </a:stretch>
        </p:blipFill>
        <p:spPr>
          <a:xfrm>
            <a:off x="3108960" y="1005840"/>
            <a:ext cx="1737360" cy="2282810"/>
          </a:xfrm>
          <a:prstGeom prst="rect">
            <a:avLst/>
          </a:prstGeom>
        </p:spPr>
      </p:pic>
      <p:sp>
        <p:nvSpPr>
          <p:cNvPr id="7" name="Text 3"/>
          <p:cNvSpPr txBox="1"/>
          <p:nvPr/>
        </p:nvSpPr>
        <p:spPr>
          <a:xfrm>
            <a:off x="731520" y="4206240"/>
            <a:ext cx="1828800" cy="274320"/>
          </a:xfrm>
          <a:prstGeom prst="rect">
            <a:avLst/>
          </a:prstGeom>
          <a:noFill/>
          <a:ln/>
        </p:spPr>
        <p:txBody>
          <a:bodyPr wrap="square" lIns="0" tIns="0" rIns="0" bIns="0" rtlCol="0" anchor="ctr"/>
          <a:lstStyle/>
          <a:p>
            <a:pPr algn="ctr" indent="0" marL="0">
              <a:buNone/>
            </a:pPr>
            <a:r>
              <a:rPr lang="en-US" sz="1000" i="1" dirty="0">
                <a:solidFill>
                  <a:srgbClr val="6B6488"/>
                </a:solidFill>
                <a:latin typeface="Calibri" pitchFamily="34" charset="0"/>
                <a:ea typeface="Calibri" pitchFamily="34" charset="-122"/>
                <a:cs typeface="Calibri" pitchFamily="34" charset="-120"/>
              </a:rPr>
              <a:t>after Puzzle 3</a:t>
            </a:r>
            <a:endParaRPr lang="en-US" sz="1000" dirty="0"/>
          </a:p>
        </p:txBody>
      </p:sp>
      <p:sp>
        <p:nvSpPr>
          <p:cNvPr id="8" name="Text 4"/>
          <p:cNvSpPr txBox="1"/>
          <p:nvPr/>
        </p:nvSpPr>
        <p:spPr>
          <a:xfrm>
            <a:off x="3108960" y="3474720"/>
            <a:ext cx="1737360" cy="274320"/>
          </a:xfrm>
          <a:prstGeom prst="rect">
            <a:avLst/>
          </a:prstGeom>
          <a:noFill/>
          <a:ln/>
        </p:spPr>
        <p:txBody>
          <a:bodyPr wrap="square" lIns="0" tIns="0" rIns="0" bIns="0" rtlCol="0" anchor="ctr"/>
          <a:lstStyle/>
          <a:p>
            <a:pPr algn="ctr" indent="0" marL="0">
              <a:buNone/>
            </a:pPr>
            <a:r>
              <a:rPr lang="en-US" sz="1000" i="1" dirty="0">
                <a:solidFill>
                  <a:srgbClr val="6B6488"/>
                </a:solidFill>
                <a:latin typeface="Calibri" pitchFamily="34" charset="0"/>
                <a:ea typeface="Calibri" pitchFamily="34" charset="-122"/>
                <a:cs typeface="Calibri" pitchFamily="34" charset="-120"/>
              </a:rPr>
              <a:t>after Puzzle 2</a:t>
            </a:r>
            <a:endParaRPr lang="en-US" sz="1000" dirty="0"/>
          </a:p>
        </p:txBody>
      </p:sp>
      <p:sp>
        <p:nvSpPr>
          <p:cNvPr id="9" name="Shape 5"/>
          <p:cNvSpPr/>
          <p:nvPr/>
        </p:nvSpPr>
        <p:spPr>
          <a:xfrm>
            <a:off x="5394960" y="1005840"/>
            <a:ext cx="3291840" cy="1051560"/>
          </a:xfrm>
          <a:prstGeom prst="roundRect">
            <a:avLst>
              <a:gd name="adj" fmla="val 8696"/>
            </a:avLst>
          </a:prstGeom>
          <a:solidFill>
            <a:srgbClr val="F5F3FF"/>
          </a:solidFill>
          <a:ln w="15875">
            <a:solidFill>
              <a:srgbClr val="A78BFA"/>
            </a:solidFill>
            <a:prstDash val="dash"/>
          </a:ln>
        </p:spPr>
      </p:sp>
      <p:sp>
        <p:nvSpPr>
          <p:cNvPr id="10" name="Text 6"/>
          <p:cNvSpPr txBox="1"/>
          <p:nvPr/>
        </p:nvSpPr>
        <p:spPr>
          <a:xfrm>
            <a:off x="5532120" y="1051560"/>
            <a:ext cx="3017520" cy="960120"/>
          </a:xfrm>
          <a:prstGeom prst="rect">
            <a:avLst/>
          </a:prstGeom>
          <a:noFill/>
          <a:ln/>
        </p:spPr>
        <p:txBody>
          <a:bodyPr wrap="square" lIns="0" tIns="0" rIns="0" bIns="0" rtlCol="0" anchor="ctr"/>
          <a:lstStyle/>
          <a:p>
            <a:pPr indent="0" marL="0">
              <a:buNone/>
            </a:pPr>
            <a:r>
              <a:rPr lang="en-US" sz="1300" b="1" dirty="0">
                <a:solidFill>
                  <a:srgbClr val="2E1065"/>
                </a:solidFill>
                <a:latin typeface="Calibri" pitchFamily="34" charset="0"/>
                <a:ea typeface="Calibri" pitchFamily="34" charset="-122"/>
                <a:cs typeface="Calibri" pitchFamily="34" charset="-120"/>
              </a:rPr>
              <a:t>Inventory</a:t>
            </a:r>
            <a:endParaRPr lang="en-US" sz="1300" dirty="0"/>
          </a:p>
          <a:p>
            <a:pPr indent="0" marL="0">
              <a:buNone/>
            </a:pPr>
            <a:r>
              <a:rPr lang="en-US" sz="1100" dirty="0">
                <a:solidFill>
                  <a:srgbClr val="1F1B2E"/>
                </a:solidFill>
                <a:latin typeface="Calibri" pitchFamily="34" charset="0"/>
                <a:ea typeface="Calibri" pitchFamily="34" charset="-122"/>
                <a:cs typeface="Calibri" pitchFamily="34" charset="-120"/>
              </a:rPr>
              <a:t>Collected results (lock code, key position) carry into the final escape</a:t>
            </a:r>
            <a:endParaRPr lang="en-US" sz="1300" dirty="0"/>
          </a:p>
        </p:txBody>
      </p:sp>
      <p:sp>
        <p:nvSpPr>
          <p:cNvPr id="11" name="Shape 7"/>
          <p:cNvSpPr/>
          <p:nvPr/>
        </p:nvSpPr>
        <p:spPr>
          <a:xfrm>
            <a:off x="5394960" y="2194560"/>
            <a:ext cx="3291840" cy="1051560"/>
          </a:xfrm>
          <a:prstGeom prst="roundRect">
            <a:avLst>
              <a:gd name="adj" fmla="val 8696"/>
            </a:avLst>
          </a:prstGeom>
          <a:solidFill>
            <a:srgbClr val="F5F3FF"/>
          </a:solidFill>
          <a:ln w="15875">
            <a:solidFill>
              <a:srgbClr val="A78BFA"/>
            </a:solidFill>
            <a:prstDash val="dash"/>
          </a:ln>
        </p:spPr>
      </p:sp>
      <p:sp>
        <p:nvSpPr>
          <p:cNvPr id="12" name="Text 8"/>
          <p:cNvSpPr txBox="1"/>
          <p:nvPr/>
        </p:nvSpPr>
        <p:spPr>
          <a:xfrm>
            <a:off x="5532120" y="2240280"/>
            <a:ext cx="3017520" cy="960120"/>
          </a:xfrm>
          <a:prstGeom prst="rect">
            <a:avLst/>
          </a:prstGeom>
          <a:noFill/>
          <a:ln/>
        </p:spPr>
        <p:txBody>
          <a:bodyPr wrap="square" lIns="0" tIns="0" rIns="0" bIns="0" rtlCol="0" anchor="ctr"/>
          <a:lstStyle/>
          <a:p>
            <a:pPr indent="0" marL="0">
              <a:buNone/>
            </a:pPr>
            <a:r>
              <a:rPr lang="en-US" sz="1300" b="1" dirty="0">
                <a:solidFill>
                  <a:srgbClr val="2E1065"/>
                </a:solidFill>
                <a:latin typeface="Calibri" pitchFamily="34" charset="0"/>
                <a:ea typeface="Calibri" pitchFamily="34" charset="-122"/>
                <a:cs typeface="Calibri" pitchFamily="34" charset="-120"/>
              </a:rPr>
              <a:t>AI Status log</a:t>
            </a:r>
            <a:endParaRPr lang="en-US" sz="1300" dirty="0"/>
          </a:p>
          <a:p>
            <a:pPr indent="0" marL="0">
              <a:buNone/>
            </a:pPr>
            <a:r>
              <a:rPr lang="en-US" sz="1100" dirty="0">
                <a:solidFill>
                  <a:srgbClr val="1F1B2E"/>
                </a:solidFill>
                <a:latin typeface="Calibri" pitchFamily="34" charset="0"/>
                <a:ea typeface="Calibri" pitchFamily="34" charset="-122"/>
                <a:cs typeface="Calibri" pitchFamily="34" charset="-120"/>
              </a:rPr>
              <a:t>Shows each step: generated puzzle, struggle detected, difficulty down to EASY</a:t>
            </a:r>
            <a:endParaRPr lang="en-US" sz="1300" dirty="0"/>
          </a:p>
        </p:txBody>
      </p:sp>
      <p:sp>
        <p:nvSpPr>
          <p:cNvPr id="13" name="Shape 9"/>
          <p:cNvSpPr/>
          <p:nvPr/>
        </p:nvSpPr>
        <p:spPr>
          <a:xfrm>
            <a:off x="5394960" y="3383280"/>
            <a:ext cx="3291840" cy="1051560"/>
          </a:xfrm>
          <a:prstGeom prst="roundRect">
            <a:avLst>
              <a:gd name="adj" fmla="val 8696"/>
            </a:avLst>
          </a:prstGeom>
          <a:solidFill>
            <a:srgbClr val="FEF3C7"/>
          </a:solidFill>
          <a:ln w="15875">
            <a:solidFill>
              <a:srgbClr val="FBBF24"/>
            </a:solidFill>
            <a:prstDash val="dash"/>
          </a:ln>
        </p:spPr>
      </p:sp>
      <p:sp>
        <p:nvSpPr>
          <p:cNvPr id="14" name="Text 10"/>
          <p:cNvSpPr txBox="1"/>
          <p:nvPr/>
        </p:nvSpPr>
        <p:spPr>
          <a:xfrm>
            <a:off x="5532120" y="3429000"/>
            <a:ext cx="3017520" cy="960120"/>
          </a:xfrm>
          <a:prstGeom prst="rect">
            <a:avLst/>
          </a:prstGeom>
          <a:noFill/>
          <a:ln/>
        </p:spPr>
        <p:txBody>
          <a:bodyPr wrap="square" lIns="0" tIns="0" rIns="0" bIns="0" rtlCol="0" anchor="ctr"/>
          <a:lstStyle/>
          <a:p>
            <a:pPr indent="0" marL="0">
              <a:buNone/>
            </a:pPr>
            <a:r>
              <a:rPr lang="en-US" sz="1300" b="1" dirty="0">
                <a:solidFill>
                  <a:srgbClr val="2E1065"/>
                </a:solidFill>
                <a:latin typeface="Calibri" pitchFamily="34" charset="0"/>
                <a:ea typeface="Calibri" pitchFamily="34" charset="-122"/>
                <a:cs typeface="Calibri" pitchFamily="34" charset="-120"/>
              </a:rPr>
              <a:t>Adaptive help</a:t>
            </a:r>
            <a:endParaRPr lang="en-US" sz="1300" dirty="0"/>
          </a:p>
          <a:p>
            <a:pPr indent="0" marL="0">
              <a:buNone/>
            </a:pPr>
            <a:r>
              <a:rPr lang="en-US" sz="1100" dirty="0">
                <a:solidFill>
                  <a:srgbClr val="1F1B2E"/>
                </a:solidFill>
                <a:latin typeface="Calibri" pitchFamily="34" charset="0"/>
                <a:ea typeface="Calibri" pitchFamily="34" charset="-122"/>
                <a:cs typeface="Calibri" pitchFamily="34" charset="-120"/>
              </a:rPr>
              <a:t>Struggle detected gives +1 extra hint and an easier next puzzle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3B1A7A"/>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 &amp; Future Scope</a:t>
            </a:r>
            <a:endParaRPr lang="en-US" sz="3000" dirty="0"/>
          </a:p>
        </p:txBody>
      </p:sp>
      <p:sp>
        <p:nvSpPr>
          <p:cNvPr id="3" name="Shape 1"/>
          <p:cNvSpPr/>
          <p:nvPr/>
        </p:nvSpPr>
        <p:spPr>
          <a:xfrm>
            <a:off x="457200" y="1097280"/>
            <a:ext cx="4023360" cy="3200400"/>
          </a:xfrm>
          <a:prstGeom prst="roundRect">
            <a:avLst>
              <a:gd name="adj" fmla="val 2857"/>
            </a:avLst>
          </a:prstGeom>
          <a:solidFill>
            <a:srgbClr val="2E1065"/>
          </a:solidFill>
          <a:ln w="15875">
            <a:solidFill>
              <a:srgbClr val="A78BFA"/>
            </a:solidFill>
            <a:prstDash val="dash"/>
          </a:ln>
        </p:spPr>
      </p:sp>
      <p:sp>
        <p:nvSpPr>
          <p:cNvPr id="4" name="Shape 2"/>
          <p:cNvSpPr/>
          <p:nvPr/>
        </p:nvSpPr>
        <p:spPr>
          <a:xfrm>
            <a:off x="4663440" y="1097280"/>
            <a:ext cx="4023360" cy="3200400"/>
          </a:xfrm>
          <a:prstGeom prst="roundRect">
            <a:avLst>
              <a:gd name="adj" fmla="val 2857"/>
            </a:avLst>
          </a:prstGeom>
          <a:solidFill>
            <a:srgbClr val="2E1065"/>
          </a:solidFill>
          <a:ln w="15875">
            <a:solidFill>
              <a:srgbClr val="A78BFA"/>
            </a:solidFill>
            <a:prstDash val="dash"/>
          </a:ln>
        </p:spPr>
      </p:sp>
      <p:sp>
        <p:nvSpPr>
          <p:cNvPr id="5" name="Text 3"/>
          <p:cNvSpPr txBox="1"/>
          <p:nvPr/>
        </p:nvSpPr>
        <p:spPr>
          <a:xfrm>
            <a:off x="640080" y="1188720"/>
            <a:ext cx="3657600" cy="320040"/>
          </a:xfrm>
          <a:prstGeom prst="rect">
            <a:avLst/>
          </a:prstGeom>
          <a:noFill/>
          <a:ln/>
        </p:spPr>
        <p:txBody>
          <a:bodyPr wrap="square" lIns="0" tIns="0" rIns="0" bIns="0" rtlCol="0" anchor="ctr"/>
          <a:lstStyle/>
          <a:p>
            <a:pPr indent="0" marL="0">
              <a:buNone/>
            </a:pPr>
            <a:r>
              <a:rPr lang="en-US" sz="1600" b="1" dirty="0">
                <a:solidFill>
                  <a:srgbClr val="FBBF24"/>
                </a:solidFill>
                <a:latin typeface="Calibri" pitchFamily="34" charset="0"/>
                <a:ea typeface="Calibri" pitchFamily="34" charset="-122"/>
                <a:cs typeface="Calibri" pitchFamily="34" charset="-120"/>
              </a:rPr>
              <a:t>What we achieved</a:t>
            </a:r>
            <a:endParaRPr lang="en-US" sz="1600" dirty="0"/>
          </a:p>
        </p:txBody>
      </p:sp>
      <p:sp>
        <p:nvSpPr>
          <p:cNvPr id="6" name="Text 4"/>
          <p:cNvSpPr txBox="1"/>
          <p:nvPr/>
        </p:nvSpPr>
        <p:spPr>
          <a:xfrm>
            <a:off x="640080" y="1600200"/>
            <a:ext cx="3657600" cy="26517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Four AI-generated puzzles: Number Lock, Objects, Doors and Final Escape</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Puzzles built with CSP and backtracking, so every game is different</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Live AI Status panel: backtracks and constraint checks</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Adaptive difficulty and extra hints when the player struggles</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Inventory links earlier answers to the final escape</a:t>
            </a:r>
            <a:endParaRPr lang="en-US" sz="1200" dirty="0"/>
          </a:p>
        </p:txBody>
      </p:sp>
      <p:sp>
        <p:nvSpPr>
          <p:cNvPr id="7" name="Text 5"/>
          <p:cNvSpPr txBox="1"/>
          <p:nvPr/>
        </p:nvSpPr>
        <p:spPr>
          <a:xfrm>
            <a:off x="4846320" y="1188720"/>
            <a:ext cx="3657600" cy="320040"/>
          </a:xfrm>
          <a:prstGeom prst="rect">
            <a:avLst/>
          </a:prstGeom>
          <a:noFill/>
          <a:ln/>
        </p:spPr>
        <p:txBody>
          <a:bodyPr wrap="square" lIns="0" tIns="0" rIns="0" bIns="0" rtlCol="0" anchor="ctr"/>
          <a:lstStyle/>
          <a:p>
            <a:pPr indent="0" marL="0">
              <a:buNone/>
            </a:pPr>
            <a:r>
              <a:rPr lang="en-US" sz="1600" b="1" dirty="0">
                <a:solidFill>
                  <a:srgbClr val="FBBF24"/>
                </a:solidFill>
                <a:latin typeface="Calibri" pitchFamily="34" charset="0"/>
                <a:ea typeface="Calibri" pitchFamily="34" charset="-122"/>
                <a:cs typeface="Calibri" pitchFamily="34" charset="-120"/>
              </a:rPr>
              <a:t>Future scope</a:t>
            </a:r>
            <a:endParaRPr lang="en-US" sz="1600" dirty="0"/>
          </a:p>
        </p:txBody>
      </p:sp>
      <p:sp>
        <p:nvSpPr>
          <p:cNvPr id="8" name="Text 6"/>
          <p:cNvSpPr txBox="1"/>
          <p:nvPr/>
        </p:nvSpPr>
        <p:spPr>
          <a:xfrm>
            <a:off x="4846320" y="1600200"/>
            <a:ext cx="3657600" cy="26517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More puzzle types (grids, sequences, ciphers)</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Difficulty levels chosen by the player</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Smarter struggle detection using time and wrong attempts</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Leaderboard and score tracking</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Multiplayer / timed team mode</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Benchmark solver speed on harder puzzles</a:t>
            </a:r>
            <a:endParaRPr lang="en-US" sz="1200" dirty="0"/>
          </a:p>
        </p:txBody>
      </p:sp>
      <p:sp>
        <p:nvSpPr>
          <p:cNvPr id="9" name="Text 7"/>
          <p:cNvSpPr txBox="1"/>
          <p:nvPr/>
        </p:nvSpPr>
        <p:spPr>
          <a:xfrm>
            <a:off x="6858000" y="4434840"/>
            <a:ext cx="1828800" cy="365760"/>
          </a:xfrm>
          <a:prstGeom prst="rect">
            <a:avLst/>
          </a:prstGeom>
          <a:noFill/>
          <a:ln/>
        </p:spPr>
        <p:txBody>
          <a:bodyPr wrap="square" lIns="0" tIns="0" rIns="0" bIns="0" rtlCol="0" anchor="ctr"/>
          <a:lstStyle/>
          <a:p>
            <a:pPr algn="r" indent="0" marL="0">
              <a:buNone/>
            </a:pPr>
            <a:r>
              <a:rPr lang="en-US" sz="1600" i="1" dirty="0">
                <a:solidFill>
                  <a:srgbClr val="FBBF24"/>
                </a:solidFill>
                <a:latin typeface="Cambria" pitchFamily="34" charset="0"/>
                <a:ea typeface="Cambria" pitchFamily="34" charset="-122"/>
                <a:cs typeface="Cambria" pitchFamily="34" charset="-120"/>
              </a:rPr>
              <a:t>Thank you</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Puzzle Escape</dc:title>
  <dc:subject>PptxGenJS Presentation</dc:subject>
  <dc:creator>Durkasri, Gayathri Mohanraaj</dc:creator>
  <cp:lastModifiedBy>Durkasri, Gayathri Mohanraaj</cp:lastModifiedBy>
  <cp:revision>1</cp:revision>
  <dcterms:created xsi:type="dcterms:W3CDTF">2026-10-21T12:44:17Z</dcterms:created>
  <dcterms:modified xsi:type="dcterms:W3CDTF">2026-10-21T12:44:17Z</dcterms:modified>
</cp:coreProperties>
</file>